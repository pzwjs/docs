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Fraunces" pitchFamily="18"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Pokazujemy, jak sprawdzimy temat, zanim zaczniemy budować aplikację: kogo pytamy, o co pytamy i co z odpowiedzi wyniknie dla funkcji aplikacji.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Badamy spacerowiczów, czyli przyszłych użytkowników aplikacji. Odpowiedzi posłużą do wyboru funkcji pierwszej wersji.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Wspólne cechy: mają 1–2 godziny, stoją w konkretnym miejscu i nie chcą tracić czasu na planowanie. Lokali, które mają płacić za oferty na trasie, w tej rundzie nie badamy; sprawdzamy tylko, czy spacerowicze zaakceptują takie oferty.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Badanie ograniczamy do ankiety, bo mamy na nie najwyżej dwa tygodnie. Próba jest dobierana z dostępnych kanałów, więc wyniki porównują grupy spacerowiczów, ale nie szacują wielkości rynku.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kolejnych slajdach pokazujemy najważniejsze pytania z każdej części i to, co odpowiedzi zmienią w aplikacji. Pełna lista pytań jest w dokumencie badania.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Pytamy o ostatnią konkretną sytuację, a nie o to, co ktoś robi „zwykle”. Ludzie lepiej pamiętają konkretne zdarzenie i rzadziej upiększają odpowiedź.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Pytamy o częstość, a nie o zgodę ze zdaniem, bo pytanie „jak często” mniej zachęca do bezrefleksyjnego potakiwania. Każdy wiersz dotyczy jednej sytuacji. Wyniki porównujemy między trzema grupami spacerowiczów.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Analiza konkurencji pokazała, że planery AI potrafią wysłać do zamkniętego miejsca albo zaproponować 40 minut marszu jako krótki spacer. Te pytania sprawdzają, czy ludzie naprawdę tego doświadczają i co odbudowuje ich zaufanie.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Wyniki liczymy osobno dla każdej grupy spacerowiczów. Przykład: gwarancja powrotu może być konieczna dla podróżnego w tranzycie, a obojętna dla mieszkańca. Jeśli wielu osobom przeszkadza oferta lokalu na trasie, model przychodu trzeba przemyśleć.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jest darmowy dla spacerowiczów, a płacą lokale za oznaczone oferty na trasie. Te pytania sprawdzają, czy spacerowicze to zaakceptują i na jakich warunkach.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Wyniki porównujemy między trzema grupami spacerowiczów. Na końcu powstaje lista funkcji pierwszej wersji z uzasadnieniem z ankiety.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812750"/>
            <a:ext cx="6292169" cy="446982"/>
          </a:xfrm>
          <a:prstGeom prst="rect">
            <a:avLst/>
          </a:prstGeom>
          <a:noFill/>
          <a:ln/>
        </p:spPr>
        <p:txBody>
          <a:bodyPr wrap="square" lIns="0" tIns="0" rIns="0" bIns="0" rtlCol="0" anchor="t"/>
          <a:lstStyle>
            <a:lvl1pPr algn="l" indent="0" marL="0">
              <a:lnSpc>
                <a:spcPct val="115000"/>
              </a:lnSpc>
              <a:buNone/>
              <a:defRPr lang="en-US" sz="3200" dirty="0">
                <a:solidFill>
                  <a:srgbClr val="1C2B2A"/>
                </a:solidFill>
                <a:latin typeface="Fraunces" pitchFamily="34" charset="0"/>
                <a:ea typeface="Fraunces" pitchFamily="34" charset="-122"/>
                <a:cs typeface="Fraunce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50" y="1564533"/>
            <a:ext cx="10566450" cy="4480667"/>
          </a:xfrm>
          <a:prstGeom prst="rect">
            <a:avLst/>
          </a:prstGeom>
          <a:noFill/>
          <a:ln/>
        </p:spPr>
        <p:txBody>
          <a:bodyPr wrap="square" lIns="0" tIns="0" rIns="0" bIns="0" rtlCol="0" anchor="t"/>
          <a:lstStyle>
            <a:lvl1pPr algn="l" indent="0" marL="0">
              <a:lnSpc>
                <a:spcPct val="140000"/>
              </a:lnSpc>
              <a:buNone/>
              <a:defRPr lang="en-US" sz="1600" dirty="0">
                <a:solidFill>
                  <a:srgbClr val="1C2B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50" y="812750"/>
            <a:ext cx="6292169" cy="446982"/>
          </a:xfrm>
          <a:prstGeom prst="rect">
            <a:avLst/>
          </a:prstGeom>
          <a:noFill/>
          <a:ln/>
        </p:spPr>
        <p:txBody>
          <a:bodyPr wrap="square" lIns="0" tIns="0" rIns="0" bIns="0" rtlCol="0" anchor="t"/>
          <a:lstStyle>
            <a:lvl1pPr algn="l" indent="0" marL="0">
              <a:lnSpc>
                <a:spcPct val="115000"/>
              </a:lnSpc>
              <a:buNone/>
              <a:defRPr lang="en-US" sz="3200" dirty="0">
                <a:solidFill>
                  <a:srgbClr val="1C2B2A"/>
                </a:solidFill>
                <a:latin typeface="Fraunces" pitchFamily="34" charset="0"/>
                <a:ea typeface="Fraunces" pitchFamily="34" charset="-122"/>
                <a:cs typeface="Fraunce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50" y="1564533"/>
            <a:ext cx="10566450" cy="4480667"/>
          </a:xfrm>
          <a:prstGeom prst="rect">
            <a:avLst/>
          </a:prstGeom>
          <a:noFill/>
          <a:ln/>
        </p:spPr>
        <p:txBody>
          <a:bodyPr wrap="square" lIns="0" tIns="0" rIns="0" bIns="0" rtlCol="0" anchor="t"/>
          <a:lstStyle>
            <a:lvl1pPr algn="l" indent="0" marL="0">
              <a:lnSpc>
                <a:spcPct val="140000"/>
              </a:lnSpc>
              <a:buNone/>
              <a:defRPr lang="en-US" sz="1600" dirty="0">
                <a:solidFill>
                  <a:srgbClr val="1C2B2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2A"/>
        </a:solidFill>
      </p:bgPr>
    </p:bg>
    <p:spTree>
      <p:nvGrpSpPr>
        <p:cNvPr id="1" name=""/>
        <p:cNvGrpSpPr/>
        <p:nvPr/>
      </p:nvGrpSpPr>
      <p:grpSpPr>
        <a:xfrm>
          <a:off x="0" y="0"/>
          <a:ext cx="0" cy="0"/>
          <a:chOff x="0" y="0"/>
          <a:chExt cx="0" cy="0"/>
        </a:xfrm>
      </p:grpSpPr>
      <p:pic>
        <p:nvPicPr>
          <p:cNvPr id="2" name="Image 0" descr="Szkic trasy spaceru z czterema punktami">    </p:cNvPr>
          <p:cNvPicPr>
            <a:picLocks noChangeAspect="1"/>
          </p:cNvPicPr>
          <p:nvPr/>
        </p:nvPicPr>
        <p:blipFill>
          <a:blip r:embed="rId1"/>
          <a:srcRect l="0" r="0" t="0" b="0"/>
          <a:stretch/>
        </p:blipFill>
        <p:spPr>
          <a:xfrm>
            <a:off x="7873967" y="825430"/>
            <a:ext cx="3555932" cy="5206943"/>
          </a:xfrm>
          <a:prstGeom prst="rect">
            <a:avLst/>
          </a:prstGeom>
        </p:spPr>
      </p:pic>
      <p:sp>
        <p:nvSpPr>
          <p:cNvPr id="3" name="Text 0"/>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A27A"/>
                </a:solidFill>
                <a:latin typeface="IBM Plex Sans" pitchFamily="34" charset="0"/>
                <a:ea typeface="IBM Plex Sans" pitchFamily="34" charset="-122"/>
                <a:cs typeface="IBM Plex Sans" pitchFamily="34" charset="-120"/>
              </a:rPr>
              <a:t>PROJEKT BADANIA · SPACERY AI</a:t>
            </a:r>
            <a:endParaRPr lang="en-US" sz="1200" dirty="0"/>
          </a:p>
        </p:txBody>
      </p:sp>
      <p:sp>
        <p:nvSpPr>
          <p:cNvPr id="4" name="Text 1"/>
          <p:cNvSpPr/>
          <p:nvPr>
            <p:ph type="title"/>
          </p:nvPr>
        </p:nvSpPr>
        <p:spPr>
          <a:xfrm>
            <a:off x="812750" y="2171811"/>
            <a:ext cx="7063693" cy="1625539"/>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3EC"/>
                </a:solidFill>
                <a:latin typeface="Fraunces" pitchFamily="18" charset="0"/>
                <a:ea typeface="Fraunces" pitchFamily="18" charset="-122"/>
                <a:cs typeface="Fraunces" pitchFamily="18" charset="-120"/>
              </a:rPr>
              <a:t>Czy spacery AI są komuś potrzebne?</a:t>
            </a:r>
            <a:endParaRPr lang="en-US" sz="6000" dirty="0"/>
          </a:p>
        </p:txBody>
      </p:sp>
      <p:sp>
        <p:nvSpPr>
          <p:cNvPr id="5" name="Text 2"/>
          <p:cNvSpPr/>
          <p:nvPr/>
        </p:nvSpPr>
        <p:spPr>
          <a:xfrm>
            <a:off x="812750" y="4025935"/>
            <a:ext cx="7063693" cy="685684"/>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9C7C2"/>
                </a:solidFill>
                <a:latin typeface="IBM Plex Sans" pitchFamily="34" charset="0"/>
                <a:ea typeface="IBM Plex Sans" pitchFamily="34" charset="-122"/>
                <a:cs typeface="IBM Plex Sans" pitchFamily="34" charset="-120"/>
              </a:rPr>
              <a:t>Jak sprawdzimy potrzeby użytkowników i jak zamienimy odpowiedzi na funkcje aplikacji</a:t>
            </a:r>
            <a:endParaRPr lang="en-US" sz="2000" dirty="0"/>
          </a:p>
        </p:txBody>
      </p:sp>
      <p:sp>
        <p:nvSpPr>
          <p:cNvPr id="6" name="Text 3"/>
          <p:cNvSpPr/>
          <p:nvPr/>
        </p:nvSpPr>
        <p:spPr>
          <a:xfrm>
            <a:off x="812750" y="5831903"/>
            <a:ext cx="10883421"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7C2"/>
                </a:solidFill>
                <a:latin typeface="IBM Plex Sans" pitchFamily="34" charset="0"/>
                <a:ea typeface="IBM Plex Sans" pitchFamily="34" charset="-122"/>
                <a:cs typeface="IBM Plex Sans" pitchFamily="34" charset="-120"/>
              </a:rPr>
              <a:t>[Nazwa zespołu] · [Data prezentacji]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50" y="812750"/>
            <a:ext cx="10883421" cy="237720"/>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A8481F"/>
                </a:solidFill>
                <a:latin typeface="IBM Plex Sans" pitchFamily="34" charset="0"/>
                <a:ea typeface="IBM Plex Sans" pitchFamily="34" charset="-122"/>
                <a:cs typeface="IBM Plex Sans" pitchFamily="34" charset="-120"/>
              </a:rPr>
              <a:t>CEL BADANIA</a:t>
            </a:r>
            <a:endParaRPr lang="en-US" sz="1196" dirty="0"/>
          </a:p>
        </p:txBody>
      </p:sp>
      <p:sp>
        <p:nvSpPr>
          <p:cNvPr id="3" name="Text 1"/>
          <p:cNvSpPr/>
          <p:nvPr>
            <p:ph type="title"/>
          </p:nvPr>
        </p:nvSpPr>
        <p:spPr>
          <a:xfrm>
            <a:off x="812750" y="1126664"/>
            <a:ext cx="10883421" cy="915289"/>
          </a:xfrm>
          <a:prstGeom prst="rect">
            <a:avLst/>
          </a:prstGeom>
          <a:noFill/>
          <a:ln/>
        </p:spPr>
        <p:txBody>
          <a:bodyPr wrap="square" lIns="0" tIns="0" rIns="0" bIns="0" rtlCol="0" anchor="t">
            <a:normAutofit/>
          </a:bodyPr>
          <a:lstStyle/>
          <a:p>
            <a:pPr algn="l" indent="0" marL="0">
              <a:lnSpc>
                <a:spcPts val="3509"/>
              </a:lnSpc>
              <a:buNone/>
            </a:pPr>
            <a:r>
              <a:rPr lang="en-US" sz="3190" b="1" i="0" dirty="0">
                <a:solidFill>
                  <a:srgbClr val="1C2B2A"/>
                </a:solidFill>
                <a:latin typeface="Fraunces" pitchFamily="18" charset="0"/>
                <a:ea typeface="Fraunces" pitchFamily="18" charset="-122"/>
                <a:cs typeface="Fraunces" pitchFamily="18" charset="-120"/>
              </a:rPr>
              <a:t>Trzy rzeczy, które musimy wiedzieć, zanim zaczniemy budować</a:t>
            </a:r>
            <a:endParaRPr lang="en-US" sz="3190" dirty="0"/>
          </a:p>
        </p:txBody>
      </p:sp>
      <p:sp>
        <p:nvSpPr>
          <p:cNvPr id="4" name="Shape 2"/>
          <p:cNvSpPr/>
          <p:nvPr/>
        </p:nvSpPr>
        <p:spPr>
          <a:xfrm>
            <a:off x="815925" y="2375305"/>
            <a:ext cx="3380284" cy="3098750"/>
          </a:xfrm>
          <a:prstGeom prst="roundRect">
            <a:avLst>
              <a:gd name="adj" fmla="val 3176"/>
            </a:avLst>
          </a:prstGeom>
          <a:solidFill>
            <a:srgbClr val="FFFDF8"/>
          </a:solidFill>
          <a:ln w="6350">
            <a:solidFill>
              <a:srgbClr val="DED7C8"/>
            </a:solidFill>
            <a:prstDash val="solid"/>
          </a:ln>
        </p:spPr>
      </p:sp>
      <p:sp>
        <p:nvSpPr>
          <p:cNvPr id="5" name="Text 3"/>
          <p:cNvSpPr/>
          <p:nvPr/>
        </p:nvSpPr>
        <p:spPr>
          <a:xfrm>
            <a:off x="1122362" y="2681743"/>
            <a:ext cx="2850433" cy="59428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A8481F"/>
                </a:solidFill>
                <a:latin typeface="Fraunces" pitchFamily="18" charset="0"/>
                <a:ea typeface="Fraunces" pitchFamily="18" charset="-122"/>
                <a:cs typeface="Fraunces" pitchFamily="18" charset="-120"/>
              </a:rPr>
              <a:t>1</a:t>
            </a:r>
            <a:endParaRPr lang="en-US" sz="3200" dirty="0"/>
          </a:p>
        </p:txBody>
      </p:sp>
      <p:sp>
        <p:nvSpPr>
          <p:cNvPr id="6" name="Text 4"/>
          <p:cNvSpPr/>
          <p:nvPr/>
        </p:nvSpPr>
        <p:spPr>
          <a:xfrm>
            <a:off x="1122362" y="3377577"/>
            <a:ext cx="2850433"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2B2A"/>
                </a:solidFill>
                <a:latin typeface="IBM Plex Sans" pitchFamily="34" charset="0"/>
                <a:ea typeface="IBM Plex Sans" pitchFamily="34" charset="-122"/>
                <a:cs typeface="IBM Plex Sans" pitchFamily="34" charset="-120"/>
              </a:rPr>
              <a:t>Czy problem istnieje</a:t>
            </a:r>
            <a:endParaRPr lang="en-US" sz="2000" dirty="0"/>
          </a:p>
        </p:txBody>
      </p:sp>
      <p:sp>
        <p:nvSpPr>
          <p:cNvPr id="7" name="Text 5"/>
          <p:cNvSpPr/>
          <p:nvPr/>
        </p:nvSpPr>
        <p:spPr>
          <a:xfrm>
            <a:off x="1122362" y="3809312"/>
            <a:ext cx="2850433" cy="109205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52"/>
                </a:solidFill>
                <a:latin typeface="IBM Plex Sans" pitchFamily="34" charset="0"/>
                <a:ea typeface="IBM Plex Sans" pitchFamily="34" charset="-122"/>
                <a:cs typeface="IBM Plex Sans" pitchFamily="34" charset="-120"/>
              </a:rPr>
              <a:t>Czy osoby z 1–2 godzinami wolnego w mieście naprawdę mają kłopot z zaplanowaniem spaceru?</a:t>
            </a:r>
            <a:endParaRPr lang="en-US" sz="1500" dirty="0"/>
          </a:p>
        </p:txBody>
      </p:sp>
      <p:sp>
        <p:nvSpPr>
          <p:cNvPr id="8" name="Shape 6"/>
          <p:cNvSpPr/>
          <p:nvPr/>
        </p:nvSpPr>
        <p:spPr>
          <a:xfrm>
            <a:off x="4405746" y="2375305"/>
            <a:ext cx="3380360" cy="3098750"/>
          </a:xfrm>
          <a:prstGeom prst="roundRect">
            <a:avLst>
              <a:gd name="adj" fmla="val 3176"/>
            </a:avLst>
          </a:prstGeom>
          <a:solidFill>
            <a:srgbClr val="FFFDF8"/>
          </a:solidFill>
          <a:ln w="6350">
            <a:solidFill>
              <a:srgbClr val="DED7C8"/>
            </a:solidFill>
            <a:prstDash val="solid"/>
          </a:ln>
        </p:spPr>
      </p:sp>
      <p:sp>
        <p:nvSpPr>
          <p:cNvPr id="9" name="Text 7"/>
          <p:cNvSpPr/>
          <p:nvPr/>
        </p:nvSpPr>
        <p:spPr>
          <a:xfrm>
            <a:off x="4712183" y="2681743"/>
            <a:ext cx="2850510" cy="590883"/>
          </a:xfrm>
          <a:prstGeom prst="rect">
            <a:avLst/>
          </a:prstGeom>
          <a:noFill/>
          <a:ln/>
        </p:spPr>
        <p:txBody>
          <a:bodyPr wrap="square" lIns="0" tIns="0" rIns="0" bIns="0" rtlCol="0" anchor="t">
            <a:normAutofit/>
          </a:bodyPr>
          <a:lstStyle/>
          <a:p>
            <a:pPr algn="l" indent="0" marL="0">
              <a:lnSpc>
                <a:spcPts val="4466"/>
              </a:lnSpc>
              <a:buNone/>
            </a:pPr>
            <a:r>
              <a:rPr lang="en-US" sz="3190" b="1" dirty="0">
                <a:solidFill>
                  <a:srgbClr val="A8481F"/>
                </a:solidFill>
                <a:latin typeface="Fraunces" pitchFamily="18" charset="0"/>
                <a:ea typeface="Fraunces" pitchFamily="18" charset="-122"/>
                <a:cs typeface="Fraunces" pitchFamily="18" charset="-120"/>
              </a:rPr>
              <a:t>2</a:t>
            </a:r>
            <a:endParaRPr lang="en-US" sz="3190" dirty="0"/>
          </a:p>
        </p:txBody>
      </p:sp>
      <p:sp>
        <p:nvSpPr>
          <p:cNvPr id="10" name="Text 8"/>
          <p:cNvSpPr/>
          <p:nvPr/>
        </p:nvSpPr>
        <p:spPr>
          <a:xfrm>
            <a:off x="4712183" y="3374180"/>
            <a:ext cx="2850510" cy="631415"/>
          </a:xfrm>
          <a:prstGeom prst="rect">
            <a:avLst/>
          </a:prstGeom>
          <a:noFill/>
          <a:ln/>
        </p:spPr>
        <p:txBody>
          <a:bodyPr wrap="square" lIns="0" tIns="0" rIns="0" bIns="0" rtlCol="0" anchor="t">
            <a:normAutofit/>
          </a:bodyPr>
          <a:lstStyle/>
          <a:p>
            <a:pPr algn="l" indent="0" marL="0">
              <a:lnSpc>
                <a:spcPts val="2385"/>
              </a:lnSpc>
              <a:buNone/>
            </a:pPr>
            <a:r>
              <a:rPr lang="en-US" sz="1988" b="1" dirty="0">
                <a:solidFill>
                  <a:srgbClr val="1C2B2A"/>
                </a:solidFill>
                <a:latin typeface="IBM Plex Sans" pitchFamily="34" charset="0"/>
                <a:ea typeface="IBM Plex Sans" pitchFamily="34" charset="-122"/>
                <a:cs typeface="IBM Plex Sans" pitchFamily="34" charset="-120"/>
              </a:rPr>
              <a:t>Jakie funkcje są potrzebne</a:t>
            </a:r>
            <a:endParaRPr lang="en-US" sz="1988" dirty="0"/>
          </a:p>
        </p:txBody>
      </p:sp>
      <p:sp>
        <p:nvSpPr>
          <p:cNvPr id="11" name="Text 9"/>
          <p:cNvSpPr/>
          <p:nvPr/>
        </p:nvSpPr>
        <p:spPr>
          <a:xfrm>
            <a:off x="4712183" y="4107149"/>
            <a:ext cx="2850510" cy="1085869"/>
          </a:xfrm>
          <a:prstGeom prst="rect">
            <a:avLst/>
          </a:prstGeom>
          <a:noFill/>
          <a:ln/>
        </p:spPr>
        <p:txBody>
          <a:bodyPr wrap="square" lIns="0" tIns="0" rIns="0" bIns="0" rtlCol="0" anchor="t">
            <a:normAutofit/>
          </a:bodyPr>
          <a:lstStyle/>
          <a:p>
            <a:pPr algn="l" indent="0" marL="0">
              <a:lnSpc>
                <a:spcPts val="2093"/>
              </a:lnSpc>
              <a:buNone/>
            </a:pPr>
            <a:r>
              <a:rPr lang="en-US" sz="1495" dirty="0">
                <a:solidFill>
                  <a:srgbClr val="4A5552"/>
                </a:solidFill>
                <a:latin typeface="IBM Plex Sans" pitchFamily="34" charset="0"/>
                <a:ea typeface="IBM Plex Sans" pitchFamily="34" charset="-122"/>
                <a:cs typeface="IBM Plex Sans" pitchFamily="34" charset="-120"/>
              </a:rPr>
              <a:t>Które funkcje są konieczne, które zachwycą, a które możemy pominąć? Czy ludzie zaufają trasie od AI?</a:t>
            </a:r>
            <a:endParaRPr lang="en-US" sz="1495" dirty="0"/>
          </a:p>
        </p:txBody>
      </p:sp>
      <p:sp>
        <p:nvSpPr>
          <p:cNvPr id="12" name="Shape 10"/>
          <p:cNvSpPr/>
          <p:nvPr/>
        </p:nvSpPr>
        <p:spPr>
          <a:xfrm>
            <a:off x="7995643" y="2375305"/>
            <a:ext cx="3380360" cy="3098750"/>
          </a:xfrm>
          <a:prstGeom prst="roundRect">
            <a:avLst>
              <a:gd name="adj" fmla="val 3176"/>
            </a:avLst>
          </a:prstGeom>
          <a:solidFill>
            <a:srgbClr val="FFFDF8"/>
          </a:solidFill>
          <a:ln w="6350">
            <a:solidFill>
              <a:srgbClr val="DED7C8"/>
            </a:solidFill>
            <a:prstDash val="solid"/>
          </a:ln>
        </p:spPr>
      </p:sp>
      <p:sp>
        <p:nvSpPr>
          <p:cNvPr id="13" name="Text 11"/>
          <p:cNvSpPr/>
          <p:nvPr/>
        </p:nvSpPr>
        <p:spPr>
          <a:xfrm>
            <a:off x="8302080" y="2681743"/>
            <a:ext cx="2850510" cy="59428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A8481F"/>
                </a:solidFill>
                <a:latin typeface="Fraunces" pitchFamily="18" charset="0"/>
                <a:ea typeface="Fraunces" pitchFamily="18" charset="-122"/>
                <a:cs typeface="Fraunces" pitchFamily="18" charset="-120"/>
              </a:rPr>
              <a:t>3</a:t>
            </a:r>
            <a:endParaRPr lang="en-US" sz="3200" dirty="0"/>
          </a:p>
        </p:txBody>
      </p:sp>
      <p:sp>
        <p:nvSpPr>
          <p:cNvPr id="14" name="Text 12"/>
          <p:cNvSpPr/>
          <p:nvPr/>
        </p:nvSpPr>
        <p:spPr>
          <a:xfrm>
            <a:off x="8302080" y="3377577"/>
            <a:ext cx="2850510"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2B2A"/>
                </a:solidFill>
                <a:latin typeface="IBM Plex Sans" pitchFamily="34" charset="0"/>
                <a:ea typeface="IBM Plex Sans" pitchFamily="34" charset="-122"/>
                <a:cs typeface="IBM Plex Sans" pitchFamily="34" charset="-120"/>
              </a:rPr>
              <a:t>Kto zapłaci</a:t>
            </a:r>
            <a:endParaRPr lang="en-US" sz="2000" dirty="0"/>
          </a:p>
        </p:txBody>
      </p:sp>
      <p:sp>
        <p:nvSpPr>
          <p:cNvPr id="15" name="Text 13"/>
          <p:cNvSpPr/>
          <p:nvPr/>
        </p:nvSpPr>
        <p:spPr>
          <a:xfrm>
            <a:off x="8302080" y="3809312"/>
            <a:ext cx="2850510" cy="1092059"/>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52"/>
                </a:solidFill>
                <a:latin typeface="IBM Plex Sans" pitchFamily="34" charset="0"/>
                <a:ea typeface="IBM Plex Sans" pitchFamily="34" charset="-122"/>
                <a:cs typeface="IBM Plex Sans" pitchFamily="34" charset="-120"/>
              </a:rPr>
              <a:t>Aplikacja ma być darmowa, a płacić mają lokale za oferty na trasie. Czy spacerowicze to zaakceptują?</a:t>
            </a:r>
            <a:endParaRPr lang="en-US" sz="1500" dirty="0"/>
          </a:p>
        </p:txBody>
      </p:sp>
      <p:sp>
        <p:nvSpPr>
          <p:cNvPr id="16" name="Text 14"/>
          <p:cNvSpPr/>
          <p:nvPr/>
        </p:nvSpPr>
        <p:spPr>
          <a:xfrm>
            <a:off x="812750" y="5832809"/>
            <a:ext cx="10883421" cy="237796"/>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5552"/>
                </a:solidFill>
                <a:latin typeface="IBM Plex Sans" pitchFamily="34" charset="0"/>
                <a:ea typeface="IBM Plex Sans" pitchFamily="34" charset="-122"/>
                <a:cs typeface="IBM Plex Sans" pitchFamily="34" charset="-120"/>
              </a:rPr>
              <a:t>Nasze założenia z analizy konkurencji traktujemy jako hipotezy do sprawdzenia, a nie fakty.</a:t>
            </a:r>
            <a:endParaRPr lang="en-US" sz="1196"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81F"/>
                </a:solidFill>
                <a:latin typeface="IBM Plex Sans" pitchFamily="34" charset="0"/>
                <a:ea typeface="IBM Plex Sans" pitchFamily="34" charset="-122"/>
                <a:cs typeface="IBM Plex Sans" pitchFamily="34" charset="-120"/>
              </a:rPr>
              <a:t>KOGO BADAMY</a:t>
            </a:r>
            <a:endParaRPr lang="en-US" sz="1200" dirty="0"/>
          </a:p>
        </p:txBody>
      </p:sp>
      <p:sp>
        <p:nvSpPr>
          <p:cNvPr id="3" name="Text 1"/>
          <p:cNvSpPr/>
          <p:nvPr>
            <p:ph type="title"/>
          </p:nvPr>
        </p:nvSpPr>
        <p:spPr>
          <a:xfrm>
            <a:off x="812750" y="1127646"/>
            <a:ext cx="10883421"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B2A"/>
                </a:solidFill>
                <a:latin typeface="Fraunces" pitchFamily="18" charset="0"/>
                <a:ea typeface="Fraunces" pitchFamily="18" charset="-122"/>
                <a:cs typeface="Fraunces" pitchFamily="18" charset="-120"/>
              </a:rPr>
              <a:t>Trzy typy spacerowiczów z ograniczonym czasem</a:t>
            </a:r>
            <a:endParaRPr lang="en-US" sz="3200" dirty="0"/>
          </a:p>
        </p:txBody>
      </p:sp>
      <p:sp>
        <p:nvSpPr>
          <p:cNvPr id="4" name="Shape 2"/>
          <p:cNvSpPr/>
          <p:nvPr/>
        </p:nvSpPr>
        <p:spPr>
          <a:xfrm>
            <a:off x="815925" y="1933381"/>
            <a:ext cx="3414174" cy="1902948"/>
          </a:xfrm>
          <a:prstGeom prst="roundRect">
            <a:avLst>
              <a:gd name="adj" fmla="val 5172"/>
            </a:avLst>
          </a:prstGeom>
          <a:solidFill>
            <a:srgbClr val="FFFDF8"/>
          </a:solidFill>
          <a:ln w="6350">
            <a:solidFill>
              <a:srgbClr val="DED7C8"/>
            </a:solidFill>
            <a:prstDash val="solid"/>
          </a:ln>
        </p:spPr>
      </p:sp>
      <p:pic>
        <p:nvPicPr>
          <p:cNvPr id="5" name="Image 0" descr="Clock">    </p:cNvPr>
          <p:cNvPicPr>
            <a:picLocks noChangeAspect="1"/>
          </p:cNvPicPr>
          <p:nvPr/>
        </p:nvPicPr>
        <p:blipFill>
          <a:blip r:embed="rId1"/>
          <a:srcRect l="0" r="0" t="0" b="0"/>
          <a:stretch/>
        </p:blipFill>
        <p:spPr>
          <a:xfrm>
            <a:off x="1071565" y="2189021"/>
            <a:ext cx="304781" cy="304781"/>
          </a:xfrm>
          <a:prstGeom prst="rect">
            <a:avLst/>
          </a:prstGeom>
        </p:spPr>
      </p:pic>
      <p:sp>
        <p:nvSpPr>
          <p:cNvPr id="6" name="Text 3"/>
          <p:cNvSpPr/>
          <p:nvPr/>
        </p:nvSpPr>
        <p:spPr>
          <a:xfrm>
            <a:off x="1071565" y="2595395"/>
            <a:ext cx="2989981"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2A"/>
                </a:solidFill>
                <a:latin typeface="IBM Plex Sans" pitchFamily="34" charset="0"/>
                <a:ea typeface="IBM Plex Sans" pitchFamily="34" charset="-122"/>
                <a:cs typeface="IBM Plex Sans" pitchFamily="34" charset="-120"/>
              </a:rPr>
              <a:t>Podróżny w tranzycie</a:t>
            </a:r>
            <a:endParaRPr lang="en-US" sz="1600" dirty="0"/>
          </a:p>
        </p:txBody>
      </p:sp>
      <p:sp>
        <p:nvSpPr>
          <p:cNvPr id="7" name="Text 4"/>
          <p:cNvSpPr/>
          <p:nvPr/>
        </p:nvSpPr>
        <p:spPr>
          <a:xfrm>
            <a:off x="1071565" y="2940785"/>
            <a:ext cx="2989981"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52"/>
                </a:solidFill>
                <a:latin typeface="IBM Plex Sans" pitchFamily="34" charset="0"/>
                <a:ea typeface="IBM Plex Sans" pitchFamily="34" charset="-122"/>
                <a:cs typeface="IBM Plex Sans" pitchFamily="34" charset="-120"/>
              </a:rPr>
              <a:t>Ma 90–120 minut do pociągu lub spotkania. Boi się, że nie zdąży wrócić.</a:t>
            </a:r>
            <a:endParaRPr lang="en-US" sz="1200" dirty="0"/>
          </a:p>
        </p:txBody>
      </p:sp>
      <p:sp>
        <p:nvSpPr>
          <p:cNvPr id="8" name="Shape 5"/>
          <p:cNvSpPr/>
          <p:nvPr/>
        </p:nvSpPr>
        <p:spPr>
          <a:xfrm>
            <a:off x="4388839" y="1933381"/>
            <a:ext cx="3414249" cy="1902948"/>
          </a:xfrm>
          <a:prstGeom prst="roundRect">
            <a:avLst>
              <a:gd name="adj" fmla="val 5172"/>
            </a:avLst>
          </a:prstGeom>
          <a:solidFill>
            <a:srgbClr val="FFFDF8"/>
          </a:solidFill>
          <a:ln w="6350">
            <a:solidFill>
              <a:srgbClr val="DED7C8"/>
            </a:solidFill>
            <a:prstDash val="solid"/>
          </a:ln>
        </p:spPr>
      </p:sp>
      <p:pic>
        <p:nvPicPr>
          <p:cNvPr id="9" name="Image 1" descr="Home">    </p:cNvPr>
          <p:cNvPicPr>
            <a:picLocks noChangeAspect="1"/>
          </p:cNvPicPr>
          <p:nvPr/>
        </p:nvPicPr>
        <p:blipFill>
          <a:blip r:embed="rId2"/>
          <a:srcRect l="0" r="0" t="0" b="0"/>
          <a:stretch/>
        </p:blipFill>
        <p:spPr>
          <a:xfrm>
            <a:off x="4644479" y="2189021"/>
            <a:ext cx="304781" cy="304781"/>
          </a:xfrm>
          <a:prstGeom prst="rect">
            <a:avLst/>
          </a:prstGeom>
        </p:spPr>
      </p:pic>
      <p:sp>
        <p:nvSpPr>
          <p:cNvPr id="10" name="Text 6"/>
          <p:cNvSpPr/>
          <p:nvPr/>
        </p:nvSpPr>
        <p:spPr>
          <a:xfrm>
            <a:off x="4644479" y="2595395"/>
            <a:ext cx="2990058"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2A"/>
                </a:solidFill>
                <a:latin typeface="IBM Plex Sans" pitchFamily="34" charset="0"/>
                <a:ea typeface="IBM Plex Sans" pitchFamily="34" charset="-122"/>
                <a:cs typeface="IBM Plex Sans" pitchFamily="34" charset="-120"/>
              </a:rPr>
              <a:t>Mieszkaniec</a:t>
            </a:r>
            <a:endParaRPr lang="en-US" sz="1600" dirty="0"/>
          </a:p>
        </p:txBody>
      </p:sp>
      <p:sp>
        <p:nvSpPr>
          <p:cNvPr id="11" name="Text 7"/>
          <p:cNvSpPr/>
          <p:nvPr/>
        </p:nvSpPr>
        <p:spPr>
          <a:xfrm>
            <a:off x="4644479" y="2940785"/>
            <a:ext cx="2990058" cy="66530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52"/>
                </a:solidFill>
                <a:latin typeface="IBM Plex Sans" pitchFamily="34" charset="0"/>
                <a:ea typeface="IBM Plex Sans" pitchFamily="34" charset="-122"/>
                <a:cs typeface="IBM Plex Sans" pitchFamily="34" charset="-120"/>
              </a:rPr>
              <a:t>Chce odkryć okolicę w przerwie lub po pracy. Ceni ciszę, zieleń, lokalne kawiarnie.</a:t>
            </a:r>
            <a:endParaRPr lang="en-US" sz="1200" dirty="0"/>
          </a:p>
        </p:txBody>
      </p:sp>
      <p:sp>
        <p:nvSpPr>
          <p:cNvPr id="12" name="Shape 8"/>
          <p:cNvSpPr/>
          <p:nvPr/>
        </p:nvSpPr>
        <p:spPr>
          <a:xfrm>
            <a:off x="7961829" y="1933381"/>
            <a:ext cx="3414174" cy="1902948"/>
          </a:xfrm>
          <a:prstGeom prst="roundRect">
            <a:avLst>
              <a:gd name="adj" fmla="val 5172"/>
            </a:avLst>
          </a:prstGeom>
          <a:solidFill>
            <a:srgbClr val="FFFDF8"/>
          </a:solidFill>
          <a:ln w="6350">
            <a:solidFill>
              <a:srgbClr val="DED7C8"/>
            </a:solidFill>
            <a:prstDash val="solid"/>
          </a:ln>
        </p:spPr>
      </p:sp>
      <p:pic>
        <p:nvPicPr>
          <p:cNvPr id="13" name="Image 2" descr="Globe">    </p:cNvPr>
          <p:cNvPicPr>
            <a:picLocks noChangeAspect="1"/>
          </p:cNvPicPr>
          <p:nvPr/>
        </p:nvPicPr>
        <p:blipFill>
          <a:blip r:embed="rId3"/>
          <a:srcRect l="0" r="0" t="0" b="0"/>
          <a:stretch/>
        </p:blipFill>
        <p:spPr>
          <a:xfrm>
            <a:off x="8217469" y="2189021"/>
            <a:ext cx="304781" cy="304781"/>
          </a:xfrm>
          <a:prstGeom prst="rect">
            <a:avLst/>
          </a:prstGeom>
        </p:spPr>
      </p:pic>
      <p:sp>
        <p:nvSpPr>
          <p:cNvPr id="14" name="Text 9"/>
          <p:cNvSpPr/>
          <p:nvPr/>
        </p:nvSpPr>
        <p:spPr>
          <a:xfrm>
            <a:off x="8217469" y="2595395"/>
            <a:ext cx="2989981"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C2B2A"/>
                </a:solidFill>
                <a:latin typeface="IBM Plex Sans" pitchFamily="34" charset="0"/>
                <a:ea typeface="IBM Plex Sans" pitchFamily="34" charset="-122"/>
                <a:cs typeface="IBM Plex Sans" pitchFamily="34" charset="-120"/>
              </a:rPr>
              <a:t>Świadomy turysta</a:t>
            </a:r>
            <a:endParaRPr lang="en-US" sz="1600" dirty="0"/>
          </a:p>
        </p:txBody>
      </p:sp>
      <p:sp>
        <p:nvSpPr>
          <p:cNvPr id="15" name="Text 10"/>
          <p:cNvSpPr/>
          <p:nvPr/>
        </p:nvSpPr>
        <p:spPr>
          <a:xfrm>
            <a:off x="8217469" y="2940785"/>
            <a:ext cx="2989981" cy="66530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52"/>
                </a:solidFill>
                <a:latin typeface="IBM Plex Sans" pitchFamily="34" charset="0"/>
                <a:ea typeface="IBM Plex Sans" pitchFamily="34" charset="-122"/>
                <a:cs typeface="IBM Plex Sans" pitchFamily="34" charset="-120"/>
              </a:rPr>
              <a:t>Szuka miejsc poza szlakiem na forach i Reddicie, a potem sam przepisuje je do mapy.</a:t>
            </a:r>
            <a:endParaRPr lang="en-US" sz="1200" dirty="0"/>
          </a:p>
        </p:txBody>
      </p:sp>
      <p:sp>
        <p:nvSpPr>
          <p:cNvPr id="16" name="Text 11"/>
          <p:cNvSpPr/>
          <p:nvPr/>
        </p:nvSpPr>
        <p:spPr>
          <a:xfrm>
            <a:off x="812750" y="4195082"/>
            <a:ext cx="10883421"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52"/>
                </a:solidFill>
                <a:latin typeface="IBM Plex Sans" pitchFamily="34" charset="0"/>
                <a:ea typeface="IBM Plex Sans" pitchFamily="34" charset="-122"/>
                <a:cs typeface="IBM Plex Sans" pitchFamily="34" charset="-120"/>
              </a:rPr>
              <a:t>W ankiecie przypisujemy każdego do jednej z trzech grup na podstawie ostatniej sytuacji, w której miał wolną chwilę w mieście.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50" y="812749"/>
            <a:ext cx="10883421" cy="23870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81F"/>
                </a:solidFill>
                <a:latin typeface="IBM Plex Sans" pitchFamily="34" charset="0"/>
                <a:ea typeface="IBM Plex Sans" pitchFamily="34" charset="-122"/>
                <a:cs typeface="IBM Plex Sans" pitchFamily="34" charset="-120"/>
              </a:rPr>
              <a:t>PRZEBIEG BADANIA · 1–2 TYGODNIE</a:t>
            </a:r>
            <a:endParaRPr lang="en-US" sz="1200" dirty="0"/>
          </a:p>
        </p:txBody>
      </p:sp>
      <p:sp>
        <p:nvSpPr>
          <p:cNvPr id="3" name="Text 1"/>
          <p:cNvSpPr/>
          <p:nvPr>
            <p:ph type="title"/>
          </p:nvPr>
        </p:nvSpPr>
        <p:spPr>
          <a:xfrm>
            <a:off x="812750" y="1127644"/>
            <a:ext cx="10883421"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B2A"/>
                </a:solidFill>
                <a:latin typeface="Fraunces" pitchFamily="18" charset="0"/>
                <a:ea typeface="Fraunces" pitchFamily="18" charset="-122"/>
                <a:cs typeface="Fraunces" pitchFamily="18" charset="-120"/>
              </a:rPr>
              <a:t>Jedna ankieta, trzy kroki</a:t>
            </a:r>
            <a:endParaRPr lang="en-US" sz="3200" dirty="0"/>
          </a:p>
        </p:txBody>
      </p:sp>
      <p:sp>
        <p:nvSpPr>
          <p:cNvPr id="4" name="Shape 2"/>
          <p:cNvSpPr/>
          <p:nvPr/>
        </p:nvSpPr>
        <p:spPr>
          <a:xfrm>
            <a:off x="815925" y="1882583"/>
            <a:ext cx="3180342" cy="2156706"/>
          </a:xfrm>
          <a:prstGeom prst="roundRect">
            <a:avLst>
              <a:gd name="adj" fmla="val 4564"/>
            </a:avLst>
          </a:prstGeom>
          <a:solidFill>
            <a:srgbClr val="FFFDF8"/>
          </a:solidFill>
          <a:ln w="6350">
            <a:solidFill>
              <a:srgbClr val="DED7C8"/>
            </a:solidFill>
            <a:prstDash val="solid"/>
          </a:ln>
        </p:spPr>
      </p:sp>
      <p:sp>
        <p:nvSpPr>
          <p:cNvPr id="5" name="Text 3"/>
          <p:cNvSpPr/>
          <p:nvPr/>
        </p:nvSpPr>
        <p:spPr>
          <a:xfrm>
            <a:off x="1071565" y="2138223"/>
            <a:ext cx="2749134"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F"/>
                </a:solidFill>
                <a:latin typeface="IBM Plex Sans" pitchFamily="34" charset="0"/>
                <a:ea typeface="IBM Plex Sans" pitchFamily="34" charset="-122"/>
                <a:cs typeface="IBM Plex Sans" pitchFamily="34" charset="-120"/>
              </a:rPr>
              <a:t>Dzień 1–2</a:t>
            </a:r>
            <a:endParaRPr lang="en-US" sz="1200" dirty="0"/>
          </a:p>
        </p:txBody>
      </p:sp>
      <p:sp>
        <p:nvSpPr>
          <p:cNvPr id="6" name="Text 4"/>
          <p:cNvSpPr/>
          <p:nvPr/>
        </p:nvSpPr>
        <p:spPr>
          <a:xfrm>
            <a:off x="1071565" y="2453118"/>
            <a:ext cx="2749134"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2B2A"/>
                </a:solidFill>
                <a:latin typeface="IBM Plex Sans" pitchFamily="34" charset="0"/>
                <a:ea typeface="IBM Plex Sans" pitchFamily="34" charset="-122"/>
                <a:cs typeface="IBM Plex Sans" pitchFamily="34" charset="-120"/>
              </a:rPr>
              <a:t>Przygotowanie</a:t>
            </a:r>
            <a:endParaRPr lang="en-US" sz="2000" dirty="0"/>
          </a:p>
        </p:txBody>
      </p:sp>
      <p:sp>
        <p:nvSpPr>
          <p:cNvPr id="7" name="Text 5"/>
          <p:cNvSpPr/>
          <p:nvPr/>
        </p:nvSpPr>
        <p:spPr>
          <a:xfrm>
            <a:off x="1071565" y="2859494"/>
            <a:ext cx="2749134" cy="9495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52"/>
                </a:solidFill>
                <a:latin typeface="IBM Plex Sans" pitchFamily="34" charset="0"/>
                <a:ea typeface="IBM Plex Sans" pitchFamily="34" charset="-122"/>
                <a:cs typeface="IBM Plex Sans" pitchFamily="34" charset="-120"/>
              </a:rPr>
              <a:t>Ankieta w Microsoft Forms. Próbne wypełnienie przez 3–5 osób spoza zespołu: sprawdzamy czas i to, czy pytania są zrozumiałe.</a:t>
            </a:r>
            <a:endParaRPr lang="en-US" sz="1300" dirty="0"/>
          </a:p>
        </p:txBody>
      </p:sp>
      <p:pic>
        <p:nvPicPr>
          <p:cNvPr id="8" name="Image 0" descr="arrow-right">    </p:cNvPr>
          <p:cNvPicPr>
            <a:picLocks noChangeAspect="1"/>
          </p:cNvPicPr>
          <p:nvPr/>
        </p:nvPicPr>
        <p:blipFill>
          <a:blip r:embed="rId1"/>
          <a:srcRect l="0" r="0" t="0" b="0"/>
          <a:stretch/>
        </p:blipFill>
        <p:spPr>
          <a:xfrm>
            <a:off x="4101036" y="2884703"/>
            <a:ext cx="304781" cy="152391"/>
          </a:xfrm>
          <a:prstGeom prst="rect">
            <a:avLst/>
          </a:prstGeom>
        </p:spPr>
      </p:pic>
      <p:sp>
        <p:nvSpPr>
          <p:cNvPr id="9" name="Shape 6"/>
          <p:cNvSpPr/>
          <p:nvPr/>
        </p:nvSpPr>
        <p:spPr>
          <a:xfrm>
            <a:off x="4510586" y="1882583"/>
            <a:ext cx="3180417" cy="2156706"/>
          </a:xfrm>
          <a:prstGeom prst="roundRect">
            <a:avLst>
              <a:gd name="adj" fmla="val 4564"/>
            </a:avLst>
          </a:prstGeom>
          <a:solidFill>
            <a:srgbClr val="FFFDF8"/>
          </a:solidFill>
          <a:ln w="6350">
            <a:solidFill>
              <a:srgbClr val="DED7C8"/>
            </a:solidFill>
            <a:prstDash val="solid"/>
          </a:ln>
        </p:spPr>
      </p:sp>
      <p:sp>
        <p:nvSpPr>
          <p:cNvPr id="10" name="Text 7"/>
          <p:cNvSpPr/>
          <p:nvPr/>
        </p:nvSpPr>
        <p:spPr>
          <a:xfrm>
            <a:off x="4766225" y="2138223"/>
            <a:ext cx="2749212"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F"/>
                </a:solidFill>
                <a:latin typeface="IBM Plex Sans" pitchFamily="34" charset="0"/>
                <a:ea typeface="IBM Plex Sans" pitchFamily="34" charset="-122"/>
                <a:cs typeface="IBM Plex Sans" pitchFamily="34" charset="-120"/>
              </a:rPr>
              <a:t>Tydzień 1–2</a:t>
            </a:r>
            <a:endParaRPr lang="en-US" sz="1200" dirty="0"/>
          </a:p>
        </p:txBody>
      </p:sp>
      <p:sp>
        <p:nvSpPr>
          <p:cNvPr id="11" name="Text 8"/>
          <p:cNvSpPr/>
          <p:nvPr/>
        </p:nvSpPr>
        <p:spPr>
          <a:xfrm>
            <a:off x="4766225" y="2453118"/>
            <a:ext cx="2749212"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C2B2A"/>
                </a:solidFill>
                <a:latin typeface="IBM Plex Sans" pitchFamily="34" charset="0"/>
                <a:ea typeface="IBM Plex Sans" pitchFamily="34" charset="-122"/>
                <a:cs typeface="IBM Plex Sans" pitchFamily="34" charset="-120"/>
              </a:rPr>
              <a:t>Zbieranie odpowiedzi</a:t>
            </a:r>
            <a:endParaRPr lang="en-US" sz="2000" dirty="0"/>
          </a:p>
        </p:txBody>
      </p:sp>
      <p:sp>
        <p:nvSpPr>
          <p:cNvPr id="12" name="Text 9"/>
          <p:cNvSpPr/>
          <p:nvPr/>
        </p:nvSpPr>
        <p:spPr>
          <a:xfrm>
            <a:off x="4766225" y="2859494"/>
            <a:ext cx="2749212" cy="9495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52"/>
                </a:solidFill>
                <a:latin typeface="IBM Plex Sans" pitchFamily="34" charset="0"/>
                <a:ea typeface="IBM Plex Sans" pitchFamily="34" charset="-122"/>
                <a:cs typeface="IBM Plex Sans" pitchFamily="34" charset="-120"/>
              </a:rPr>
              <a:t>Grupy uczelniane, miejskie grupy na Facebooku i Reddicie, znajomi znajomych. Cel: około 100 pełnych odpowiedzi.</a:t>
            </a:r>
            <a:endParaRPr lang="en-US" sz="1300" dirty="0"/>
          </a:p>
        </p:txBody>
      </p:sp>
      <p:pic>
        <p:nvPicPr>
          <p:cNvPr id="13" name="Image 1" descr="arrow-right">    </p:cNvPr>
          <p:cNvPicPr>
            <a:picLocks noChangeAspect="1"/>
          </p:cNvPicPr>
          <p:nvPr/>
        </p:nvPicPr>
        <p:blipFill>
          <a:blip r:embed="rId2"/>
          <a:srcRect l="0" r="0" t="0" b="0"/>
          <a:stretch/>
        </p:blipFill>
        <p:spPr>
          <a:xfrm>
            <a:off x="7795771" y="2884703"/>
            <a:ext cx="304781" cy="152391"/>
          </a:xfrm>
          <a:prstGeom prst="rect">
            <a:avLst/>
          </a:prstGeom>
        </p:spPr>
      </p:pic>
      <p:sp>
        <p:nvSpPr>
          <p:cNvPr id="14" name="Shape 10"/>
          <p:cNvSpPr/>
          <p:nvPr/>
        </p:nvSpPr>
        <p:spPr>
          <a:xfrm>
            <a:off x="8202147" y="1879408"/>
            <a:ext cx="3177031" cy="2163056"/>
          </a:xfrm>
          <a:prstGeom prst="roundRect">
            <a:avLst>
              <a:gd name="adj" fmla="val 4697"/>
            </a:avLst>
          </a:prstGeom>
          <a:solidFill>
            <a:srgbClr val="1C2B2A"/>
          </a:solidFill>
          <a:ln/>
        </p:spPr>
      </p:sp>
      <p:sp>
        <p:nvSpPr>
          <p:cNvPr id="15" name="Text 11"/>
          <p:cNvSpPr/>
          <p:nvPr/>
        </p:nvSpPr>
        <p:spPr>
          <a:xfrm>
            <a:off x="8456131" y="2133392"/>
            <a:ext cx="2749134"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27A"/>
                </a:solidFill>
                <a:latin typeface="IBM Plex Sans" pitchFamily="34" charset="0"/>
                <a:ea typeface="IBM Plex Sans" pitchFamily="34" charset="-122"/>
                <a:cs typeface="IBM Plex Sans" pitchFamily="34" charset="-120"/>
              </a:rPr>
              <a:t>Koniec tygodnia 2</a:t>
            </a:r>
            <a:endParaRPr lang="en-US" sz="1200" dirty="0"/>
          </a:p>
        </p:txBody>
      </p:sp>
      <p:sp>
        <p:nvSpPr>
          <p:cNvPr id="16" name="Text 12"/>
          <p:cNvSpPr/>
          <p:nvPr/>
        </p:nvSpPr>
        <p:spPr>
          <a:xfrm>
            <a:off x="8456131" y="2448288"/>
            <a:ext cx="2749134" cy="330181"/>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3EC"/>
                </a:solidFill>
                <a:latin typeface="IBM Plex Sans" pitchFamily="34" charset="0"/>
                <a:ea typeface="IBM Plex Sans" pitchFamily="34" charset="-122"/>
                <a:cs typeface="IBM Plex Sans" pitchFamily="34" charset="-120"/>
              </a:rPr>
              <a:t>Wnioski</a:t>
            </a:r>
            <a:endParaRPr lang="en-US" sz="2000" dirty="0"/>
          </a:p>
        </p:txBody>
      </p:sp>
      <p:sp>
        <p:nvSpPr>
          <p:cNvPr id="17" name="Text 13"/>
          <p:cNvSpPr/>
          <p:nvPr/>
        </p:nvSpPr>
        <p:spPr>
          <a:xfrm>
            <a:off x="8456131" y="2854663"/>
            <a:ext cx="2749134" cy="9495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9C7C2"/>
                </a:solidFill>
                <a:latin typeface="IBM Plex Sans" pitchFamily="34" charset="0"/>
                <a:ea typeface="IBM Plex Sans" pitchFamily="34" charset="-122"/>
                <a:cs typeface="IBM Plex Sans" pitchFamily="34" charset="-120"/>
              </a:rPr>
              <a:t>Porównanie trzech grup spacerowiczów, ranking funkcji i lista funkcji pierwszej wersji aplikacji.</a:t>
            </a:r>
            <a:endParaRPr lang="en-US" sz="1300" dirty="0"/>
          </a:p>
        </p:txBody>
      </p:sp>
      <p:sp>
        <p:nvSpPr>
          <p:cNvPr id="18" name="Text 14"/>
          <p:cNvSpPr/>
          <p:nvPr/>
        </p:nvSpPr>
        <p:spPr>
          <a:xfrm>
            <a:off x="812750" y="4347245"/>
            <a:ext cx="10883421"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C2B2A"/>
                </a:solidFill>
                <a:latin typeface="IBM Plex Sans" pitchFamily="34" charset="0"/>
                <a:ea typeface="IBM Plex Sans" pitchFamily="34" charset="-122"/>
                <a:cs typeface="IBM Plex Sans" pitchFamily="34" charset="-120"/>
              </a:rPr>
              <a:t>Zasada:</a:t>
            </a:r>
            <a:r>
              <a:rPr lang="en-US" sz="1200" dirty="0">
                <a:solidFill>
                  <a:srgbClr val="4A5552"/>
                </a:solidFill>
                <a:latin typeface="IBM Plex Sans" pitchFamily="34" charset="0"/>
                <a:ea typeface="IBM Plex Sans" pitchFamily="34" charset="-122"/>
                <a:cs typeface="IBM Plex Sans" pitchFamily="34" charset="-120"/>
              </a:rPr>
              <a:t> pytamy, co ludzie faktycznie zrobili ostatnio, a nie czy skorzystaliby z aplikacji. Ankieta jest anonimowa.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481F"/>
                </a:solidFill>
                <a:latin typeface="IBM Plex Sans" pitchFamily="34" charset="0"/>
                <a:ea typeface="IBM Plex Sans" pitchFamily="34" charset="-122"/>
                <a:cs typeface="IBM Plex Sans" pitchFamily="34" charset="-120"/>
              </a:rPr>
              <a:t>ANKIETA DLA SPACEROWICZÓW</a:t>
            </a:r>
            <a:endParaRPr lang="en-US" sz="1200" dirty="0"/>
          </a:p>
        </p:txBody>
      </p:sp>
      <p:sp>
        <p:nvSpPr>
          <p:cNvPr id="3" name="Text 1"/>
          <p:cNvSpPr/>
          <p:nvPr>
            <p:ph type="title"/>
          </p:nvPr>
        </p:nvSpPr>
        <p:spPr>
          <a:xfrm>
            <a:off x="812750" y="1127646"/>
            <a:ext cx="10883421"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B2A"/>
                </a:solidFill>
                <a:latin typeface="Fraunces" pitchFamily="18" charset="0"/>
                <a:ea typeface="Fraunces" pitchFamily="18" charset="-122"/>
                <a:cs typeface="Fraunces" pitchFamily="18" charset="-120"/>
              </a:rPr>
              <a:t>Sześć części, około 10 minut, pomysł dopiero na końcu</a:t>
            </a:r>
            <a:endParaRPr lang="en-US" sz="3200" dirty="0"/>
          </a:p>
        </p:txBody>
      </p:sp>
      <p:sp>
        <p:nvSpPr>
          <p:cNvPr id="4" name="Text 2"/>
          <p:cNvSpPr/>
          <p:nvPr/>
        </p:nvSpPr>
        <p:spPr>
          <a:xfrm>
            <a:off x="812750" y="1879408"/>
            <a:ext cx="7081185"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52"/>
                </a:solidFill>
                <a:latin typeface="IBM Plex Sans" pitchFamily="34" charset="0"/>
                <a:ea typeface="IBM Plex Sans" pitchFamily="34" charset="-122"/>
                <a:cs typeface="IBM Plex Sans" pitchFamily="34" charset="-120"/>
              </a:rPr>
              <a:t>Najpierw o ich życiu, bez słowa o aplikacji</a:t>
            </a:r>
            <a:endParaRPr lang="en-US" sz="1200" dirty="0"/>
          </a:p>
        </p:txBody>
      </p:sp>
      <p:sp>
        <p:nvSpPr>
          <p:cNvPr id="5" name="Shape 3"/>
          <p:cNvSpPr/>
          <p:nvPr/>
        </p:nvSpPr>
        <p:spPr>
          <a:xfrm>
            <a:off x="815925" y="2222841"/>
            <a:ext cx="1636132" cy="1323879"/>
          </a:xfrm>
          <a:prstGeom prst="roundRect">
            <a:avLst>
              <a:gd name="adj" fmla="val 7435"/>
            </a:avLst>
          </a:prstGeom>
          <a:solidFill>
            <a:srgbClr val="FFFDF8"/>
          </a:solidFill>
          <a:ln w="6350">
            <a:solidFill>
              <a:srgbClr val="DED7C8"/>
            </a:solidFill>
            <a:prstDash val="solid"/>
          </a:ln>
        </p:spPr>
      </p:sp>
      <p:sp>
        <p:nvSpPr>
          <p:cNvPr id="6" name="Text 4"/>
          <p:cNvSpPr/>
          <p:nvPr/>
        </p:nvSpPr>
        <p:spPr>
          <a:xfrm>
            <a:off x="969971" y="2376887"/>
            <a:ext cx="1378840" cy="59428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62"/>
                </a:solidFill>
                <a:latin typeface="Fraunces" pitchFamily="18" charset="0"/>
                <a:ea typeface="Fraunces" pitchFamily="18" charset="-122"/>
                <a:cs typeface="Fraunces" pitchFamily="18" charset="-120"/>
              </a:rPr>
              <a:t>1</a:t>
            </a:r>
            <a:endParaRPr lang="en-US" sz="3200" dirty="0"/>
          </a:p>
        </p:txBody>
      </p:sp>
      <p:sp>
        <p:nvSpPr>
          <p:cNvPr id="7" name="Text 5"/>
          <p:cNvSpPr/>
          <p:nvPr/>
        </p:nvSpPr>
        <p:spPr>
          <a:xfrm>
            <a:off x="969971" y="2996561"/>
            <a:ext cx="1378840" cy="42151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2B2A"/>
                </a:solidFill>
                <a:latin typeface="IBM Plex Sans" pitchFamily="34" charset="0"/>
                <a:ea typeface="IBM Plex Sans" pitchFamily="34" charset="-122"/>
                <a:cs typeface="IBM Plex Sans" pitchFamily="34" charset="-120"/>
              </a:rPr>
              <a:t>Ostatnia wolna chwila w mieście</a:t>
            </a:r>
            <a:endParaRPr lang="en-US" sz="1200" dirty="0"/>
          </a:p>
        </p:txBody>
      </p:sp>
      <p:sp>
        <p:nvSpPr>
          <p:cNvPr id="8" name="Shape 6"/>
          <p:cNvSpPr/>
          <p:nvPr/>
        </p:nvSpPr>
        <p:spPr>
          <a:xfrm>
            <a:off x="2560001" y="2222841"/>
            <a:ext cx="1636208" cy="1323879"/>
          </a:xfrm>
          <a:prstGeom prst="roundRect">
            <a:avLst>
              <a:gd name="adj" fmla="val 7435"/>
            </a:avLst>
          </a:prstGeom>
          <a:solidFill>
            <a:srgbClr val="FFFDF8"/>
          </a:solidFill>
          <a:ln w="6350">
            <a:solidFill>
              <a:srgbClr val="DED7C8"/>
            </a:solidFill>
            <a:prstDash val="solid"/>
          </a:ln>
        </p:spPr>
      </p:sp>
      <p:sp>
        <p:nvSpPr>
          <p:cNvPr id="9" name="Text 7"/>
          <p:cNvSpPr/>
          <p:nvPr/>
        </p:nvSpPr>
        <p:spPr>
          <a:xfrm>
            <a:off x="2714047" y="2376887"/>
            <a:ext cx="1378915" cy="59428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62"/>
                </a:solidFill>
                <a:latin typeface="Fraunces" pitchFamily="18" charset="0"/>
                <a:ea typeface="Fraunces" pitchFamily="18" charset="-122"/>
                <a:cs typeface="Fraunces" pitchFamily="18" charset="-120"/>
              </a:rPr>
              <a:t>2</a:t>
            </a:r>
            <a:endParaRPr lang="en-US" sz="3200" dirty="0"/>
          </a:p>
        </p:txBody>
      </p:sp>
      <p:sp>
        <p:nvSpPr>
          <p:cNvPr id="10" name="Text 8"/>
          <p:cNvSpPr/>
          <p:nvPr/>
        </p:nvSpPr>
        <p:spPr>
          <a:xfrm>
            <a:off x="2714047" y="2996561"/>
            <a:ext cx="1378915" cy="42151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2B2A"/>
                </a:solidFill>
                <a:latin typeface="IBM Plex Sans" pitchFamily="34" charset="0"/>
                <a:ea typeface="IBM Plex Sans" pitchFamily="34" charset="-122"/>
                <a:cs typeface="IBM Plex Sans" pitchFamily="34" charset="-120"/>
              </a:rPr>
              <a:t>Jak dziś planują spacer</a:t>
            </a:r>
            <a:endParaRPr lang="en-US" sz="1200" dirty="0"/>
          </a:p>
        </p:txBody>
      </p:sp>
      <p:sp>
        <p:nvSpPr>
          <p:cNvPr id="11" name="Shape 9"/>
          <p:cNvSpPr/>
          <p:nvPr/>
        </p:nvSpPr>
        <p:spPr>
          <a:xfrm>
            <a:off x="4304152" y="2222841"/>
            <a:ext cx="1636208" cy="1323879"/>
          </a:xfrm>
          <a:prstGeom prst="roundRect">
            <a:avLst>
              <a:gd name="adj" fmla="val 7435"/>
            </a:avLst>
          </a:prstGeom>
          <a:solidFill>
            <a:srgbClr val="FFFDF8"/>
          </a:solidFill>
          <a:ln w="6350">
            <a:solidFill>
              <a:srgbClr val="DED7C8"/>
            </a:solidFill>
            <a:prstDash val="solid"/>
          </a:ln>
        </p:spPr>
      </p:sp>
      <p:sp>
        <p:nvSpPr>
          <p:cNvPr id="12" name="Text 10"/>
          <p:cNvSpPr/>
          <p:nvPr/>
        </p:nvSpPr>
        <p:spPr>
          <a:xfrm>
            <a:off x="4458199" y="2376887"/>
            <a:ext cx="1378915" cy="59428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62"/>
                </a:solidFill>
                <a:latin typeface="Fraunces" pitchFamily="18" charset="0"/>
                <a:ea typeface="Fraunces" pitchFamily="18" charset="-122"/>
                <a:cs typeface="Fraunces" pitchFamily="18" charset="-120"/>
              </a:rPr>
              <a:t>3</a:t>
            </a:r>
            <a:endParaRPr lang="en-US" sz="3200" dirty="0"/>
          </a:p>
        </p:txBody>
      </p:sp>
      <p:sp>
        <p:nvSpPr>
          <p:cNvPr id="13" name="Text 11"/>
          <p:cNvSpPr/>
          <p:nvPr/>
        </p:nvSpPr>
        <p:spPr>
          <a:xfrm>
            <a:off x="4458199" y="2996561"/>
            <a:ext cx="1378915" cy="22345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2B2A"/>
                </a:solidFill>
                <a:latin typeface="IBM Plex Sans" pitchFamily="34" charset="0"/>
                <a:ea typeface="IBM Plex Sans" pitchFamily="34" charset="-122"/>
                <a:cs typeface="IBM Plex Sans" pitchFamily="34" charset="-120"/>
              </a:rPr>
              <a:t>Co im przeszkadza</a:t>
            </a:r>
            <a:endParaRPr lang="en-US" sz="1200" dirty="0"/>
          </a:p>
        </p:txBody>
      </p:sp>
      <p:sp>
        <p:nvSpPr>
          <p:cNvPr id="14" name="Shape 12"/>
          <p:cNvSpPr/>
          <p:nvPr/>
        </p:nvSpPr>
        <p:spPr>
          <a:xfrm>
            <a:off x="6048304" y="2222841"/>
            <a:ext cx="1636208" cy="1323879"/>
          </a:xfrm>
          <a:prstGeom prst="roundRect">
            <a:avLst>
              <a:gd name="adj" fmla="val 7435"/>
            </a:avLst>
          </a:prstGeom>
          <a:solidFill>
            <a:srgbClr val="FFFDF8"/>
          </a:solidFill>
          <a:ln w="6350">
            <a:solidFill>
              <a:srgbClr val="DED7C8"/>
            </a:solidFill>
            <a:prstDash val="solid"/>
          </a:ln>
        </p:spPr>
      </p:sp>
      <p:sp>
        <p:nvSpPr>
          <p:cNvPr id="15" name="Text 13"/>
          <p:cNvSpPr/>
          <p:nvPr/>
        </p:nvSpPr>
        <p:spPr>
          <a:xfrm>
            <a:off x="6202350" y="2376887"/>
            <a:ext cx="1378915" cy="59428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62"/>
                </a:solidFill>
                <a:latin typeface="Fraunces" pitchFamily="18" charset="0"/>
                <a:ea typeface="Fraunces" pitchFamily="18" charset="-122"/>
                <a:cs typeface="Fraunces" pitchFamily="18" charset="-120"/>
              </a:rPr>
              <a:t>4</a:t>
            </a:r>
            <a:endParaRPr lang="en-US" sz="3200" dirty="0"/>
          </a:p>
        </p:txBody>
      </p:sp>
      <p:sp>
        <p:nvSpPr>
          <p:cNvPr id="16" name="Text 14"/>
          <p:cNvSpPr/>
          <p:nvPr/>
        </p:nvSpPr>
        <p:spPr>
          <a:xfrm>
            <a:off x="6202350" y="2996561"/>
            <a:ext cx="1378915" cy="22345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C2B2A"/>
                </a:solidFill>
                <a:latin typeface="IBM Plex Sans" pitchFamily="34" charset="0"/>
                <a:ea typeface="IBM Plex Sans" pitchFamily="34" charset="-122"/>
                <a:cs typeface="IBM Plex Sans" pitchFamily="34" charset="-120"/>
              </a:rPr>
              <a:t>Zaufanie do AI</a:t>
            </a:r>
            <a:endParaRPr lang="en-US" sz="1200" dirty="0"/>
          </a:p>
        </p:txBody>
      </p:sp>
      <p:sp>
        <p:nvSpPr>
          <p:cNvPr id="17" name="Text 15"/>
          <p:cNvSpPr/>
          <p:nvPr/>
        </p:nvSpPr>
        <p:spPr>
          <a:xfrm>
            <a:off x="7941671" y="1879408"/>
            <a:ext cx="3540631"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81F"/>
                </a:solidFill>
                <a:latin typeface="IBM Plex Sans" pitchFamily="34" charset="0"/>
                <a:ea typeface="IBM Plex Sans" pitchFamily="34" charset="-122"/>
                <a:cs typeface="IBM Plex Sans" pitchFamily="34" charset="-120"/>
              </a:rPr>
              <a:t>Potem o naszym pomyśle</a:t>
            </a:r>
            <a:endParaRPr lang="en-US" sz="1200" dirty="0"/>
          </a:p>
        </p:txBody>
      </p:sp>
      <p:sp>
        <p:nvSpPr>
          <p:cNvPr id="18" name="Shape 16"/>
          <p:cNvSpPr/>
          <p:nvPr/>
        </p:nvSpPr>
        <p:spPr>
          <a:xfrm>
            <a:off x="7941671" y="2219666"/>
            <a:ext cx="1667919" cy="1320568"/>
          </a:xfrm>
          <a:prstGeom prst="roundRect">
            <a:avLst>
              <a:gd name="adj" fmla="val 7694"/>
            </a:avLst>
          </a:prstGeom>
          <a:solidFill>
            <a:srgbClr val="1C2B2A"/>
          </a:solidFill>
          <a:ln/>
        </p:spPr>
      </p:sp>
      <p:sp>
        <p:nvSpPr>
          <p:cNvPr id="19" name="Text 17"/>
          <p:cNvSpPr/>
          <p:nvPr/>
        </p:nvSpPr>
        <p:spPr>
          <a:xfrm>
            <a:off x="8094062" y="2372057"/>
            <a:ext cx="1413937" cy="59428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0A27A"/>
                </a:solidFill>
                <a:latin typeface="Fraunces" pitchFamily="18" charset="0"/>
                <a:ea typeface="Fraunces" pitchFamily="18" charset="-122"/>
                <a:cs typeface="Fraunces" pitchFamily="18" charset="-120"/>
              </a:rPr>
              <a:t>5</a:t>
            </a:r>
            <a:endParaRPr lang="en-US" sz="3200" dirty="0"/>
          </a:p>
        </p:txBody>
      </p:sp>
      <p:sp>
        <p:nvSpPr>
          <p:cNvPr id="20" name="Text 18"/>
          <p:cNvSpPr/>
          <p:nvPr/>
        </p:nvSpPr>
        <p:spPr>
          <a:xfrm>
            <a:off x="8094062" y="2991734"/>
            <a:ext cx="1413937" cy="22345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6F3EC"/>
                </a:solidFill>
                <a:latin typeface="IBM Plex Sans" pitchFamily="34" charset="0"/>
                <a:ea typeface="IBM Plex Sans" pitchFamily="34" charset="-122"/>
                <a:cs typeface="IBM Plex Sans" pitchFamily="34" charset="-120"/>
              </a:rPr>
              <a:t>Funkcje aplikacji</a:t>
            </a:r>
            <a:endParaRPr lang="en-US" sz="1200" dirty="0"/>
          </a:p>
        </p:txBody>
      </p:sp>
      <p:sp>
        <p:nvSpPr>
          <p:cNvPr id="21" name="Shape 19"/>
          <p:cNvSpPr/>
          <p:nvPr/>
        </p:nvSpPr>
        <p:spPr>
          <a:xfrm>
            <a:off x="9711183" y="2219666"/>
            <a:ext cx="1667994" cy="1320568"/>
          </a:xfrm>
          <a:prstGeom prst="roundRect">
            <a:avLst>
              <a:gd name="adj" fmla="val 7694"/>
            </a:avLst>
          </a:prstGeom>
          <a:solidFill>
            <a:srgbClr val="1C2B2A"/>
          </a:solidFill>
          <a:ln/>
        </p:spPr>
      </p:sp>
      <p:sp>
        <p:nvSpPr>
          <p:cNvPr id="22" name="Text 20"/>
          <p:cNvSpPr/>
          <p:nvPr/>
        </p:nvSpPr>
        <p:spPr>
          <a:xfrm>
            <a:off x="9863574" y="2372057"/>
            <a:ext cx="1414013" cy="59428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0A27A"/>
                </a:solidFill>
                <a:latin typeface="Fraunces" pitchFamily="18" charset="0"/>
                <a:ea typeface="Fraunces" pitchFamily="18" charset="-122"/>
                <a:cs typeface="Fraunces" pitchFamily="18" charset="-120"/>
              </a:rPr>
              <a:t>6</a:t>
            </a:r>
            <a:endParaRPr lang="en-US" sz="3200" dirty="0"/>
          </a:p>
        </p:txBody>
      </p:sp>
      <p:sp>
        <p:nvSpPr>
          <p:cNvPr id="23" name="Text 21"/>
          <p:cNvSpPr/>
          <p:nvPr/>
        </p:nvSpPr>
        <p:spPr>
          <a:xfrm>
            <a:off x="9863574" y="2991734"/>
            <a:ext cx="1414013" cy="42151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6F3EC"/>
                </a:solidFill>
                <a:latin typeface="IBM Plex Sans" pitchFamily="34" charset="0"/>
                <a:ea typeface="IBM Plex Sans" pitchFamily="34" charset="-122"/>
                <a:cs typeface="IBM Plex Sans" pitchFamily="34" charset="-120"/>
              </a:rPr>
              <a:t>Płacenie i oferty lokali</a:t>
            </a:r>
            <a:endParaRPr lang="en-US" sz="1200" dirty="0"/>
          </a:p>
        </p:txBody>
      </p:sp>
      <p:sp>
        <p:nvSpPr>
          <p:cNvPr id="24" name="Text 22"/>
          <p:cNvSpPr/>
          <p:nvPr/>
        </p:nvSpPr>
        <p:spPr>
          <a:xfrm>
            <a:off x="812750" y="3854676"/>
            <a:ext cx="9810728" cy="54106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52"/>
                </a:solidFill>
                <a:latin typeface="IBM Plex Sans" pitchFamily="34" charset="0"/>
                <a:ea typeface="IBM Plex Sans" pitchFamily="34" charset="-122"/>
                <a:cs typeface="IBM Plex Sans" pitchFamily="34" charset="-120"/>
              </a:rPr>
              <a:t>Kolejność jest celowa: kto pozna pomysł zbyt wcześnie, zaczyna odpowiadać „pod niego”. Pytamy o konkretne zdarzenia z ostatnich miesięcy, bo deklaracje na przyszłość są zawyżone.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6692597"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B2A"/>
                </a:solidFill>
                <a:latin typeface="Fraunces" pitchFamily="18" charset="0"/>
                <a:ea typeface="Fraunces" pitchFamily="18" charset="-122"/>
                <a:cs typeface="Fraunces" pitchFamily="18" charset="-120"/>
              </a:rPr>
              <a:t>Jak dziś spędzają wolną chwilę</a:t>
            </a:r>
            <a:endParaRPr lang="en-US" sz="3200" dirty="0"/>
          </a:p>
        </p:txBody>
      </p:sp>
      <p:sp>
        <p:nvSpPr>
          <p:cNvPr id="3" name="Text 1"/>
          <p:cNvSpPr/>
          <p:nvPr/>
        </p:nvSpPr>
        <p:spPr>
          <a:xfrm>
            <a:off x="10361429" y="878796"/>
            <a:ext cx="1017749" cy="314895"/>
          </a:xfrm>
          <a:prstGeom prst="roundRect">
            <a:avLst>
              <a:gd name="adj" fmla="val 50000"/>
            </a:avLst>
          </a:prstGeom>
          <a:solidFill>
            <a:srgbClr val="2F6F62"/>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Części 1–2</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411" y="1523380"/>
          <a:ext cx="10556691" cy="2876023"/>
        </p:xfrm>
        <a:graphic>
          <a:graphicData uri="http://schemas.openxmlformats.org/drawingml/2006/table">
            <a:tbl>
              <a:tblPr/>
              <a:tblGrid>
                <a:gridCol w="4644944"/>
                <a:gridCol w="5911747"/>
              </a:tblGrid>
              <a:tr h="314291">
                <a:tc>
                  <a:txBody>
                    <a:bodyPr/>
                    <a:lstStyle/>
                    <a:p>
                      <a:pP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Pytanie w ankiecie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1A262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A2625"/>
                      </a:solidFill>
                      <a:prstDash val="solid"/>
                      <a:round/>
                      <a:headEnd type="none" w="med" len="med"/>
                      <a:tailEnd type="none" w="med" len="med"/>
                    </a:lnB>
                    <a:solidFill>
                      <a:srgbClr val="1C2B2A"/>
                    </a:solidFill>
                  </a:tcPr>
                </a:tc>
                <a:tc>
                  <a:txBody>
                    <a:bodyPr/>
                    <a:lstStyle/>
                    <a:p>
                      <a:pP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Co nam to powie i co zmieni w aplikacji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A2625"/>
                      </a:solidFill>
                      <a:prstDash val="solid"/>
                      <a:round/>
                      <a:headEnd type="none" w="med" len="med"/>
                      <a:tailEnd type="none" w="med" len="med"/>
                    </a:lnL>
                    <a:lnR w="12700" cap="flat" cmpd="sng" algn="ctr">
                      <a:solidFill>
                        <a:srgbClr val="1A262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A2625"/>
                      </a:solidFill>
                      <a:prstDash val="solid"/>
                      <a:round/>
                      <a:headEnd type="none" w="med" len="med"/>
                      <a:tailEnd type="none" w="med" len="med"/>
                    </a:lnB>
                    <a:solidFill>
                      <a:srgbClr val="1C2B2A"/>
                    </a:solidFill>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Pomyśl o ostatniej sytuacji, gdy miałeś/-aś 1–2 godziny wolnego w mieście. Co to było?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A262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Przypisuje osobę do grupy docelowej. Grupa, która ma problem najczęściej, dostaje pierwszą wersję aplikacji.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A262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Co wtedy faktycznie zrobiłeś/-aś?</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Jeśli wielu podróżnych zostaje na dworcu, trasa z gwarancją powrotu staje się rdzeniem aplikacji.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Jeśli zostałeś/-aś na miejscu: co o tym zdecydowało?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Oddziela przeszkody, które usuniemy (obawa o czas, odległość), od tych, na które nie mamy wpływu (pogoda).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Z jakich źródeł korzystałeś/-aś? (mapy, czat AI, fora, blogi, znajomi)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Pokazuje prawdziwą konkurencję i z czym aplikacja musi się łączyć.</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Ile czasu zajęło Ci szukanie miejsc i planowanie?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Wyznacza cel: aplikacja musi dać gotową trasę szybciej, niż dziś trwa samo szukanie.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4093850"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B2A"/>
                </a:solidFill>
                <a:latin typeface="Fraunces" pitchFamily="18" charset="0"/>
                <a:ea typeface="Fraunces" pitchFamily="18" charset="-122"/>
                <a:cs typeface="Fraunces" pitchFamily="18" charset="-120"/>
              </a:rPr>
              <a:t>Co im przeszkadza</a:t>
            </a:r>
            <a:endParaRPr lang="en-US" sz="3200" dirty="0"/>
          </a:p>
        </p:txBody>
      </p:sp>
      <p:sp>
        <p:nvSpPr>
          <p:cNvPr id="3" name="Text 1"/>
          <p:cNvSpPr/>
          <p:nvPr/>
        </p:nvSpPr>
        <p:spPr>
          <a:xfrm>
            <a:off x="10584391" y="878793"/>
            <a:ext cx="794786" cy="314895"/>
          </a:xfrm>
          <a:prstGeom prst="roundRect">
            <a:avLst>
              <a:gd name="adj" fmla="val 50000"/>
            </a:avLst>
          </a:prstGeom>
          <a:solidFill>
            <a:srgbClr val="2F6F62"/>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Część 3</a:t>
            </a:r>
            <a:endParaRPr lang="en-US" sz="1200" dirty="0"/>
          </a:p>
        </p:txBody>
      </p:sp>
      <p:sp>
        <p:nvSpPr>
          <p:cNvPr id="4" name="Text 2"/>
          <p:cNvSpPr/>
          <p:nvPr/>
        </p:nvSpPr>
        <p:spPr>
          <a:xfrm>
            <a:off x="812750" y="1488278"/>
            <a:ext cx="10883421" cy="2564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52"/>
                </a:solidFill>
                <a:latin typeface="IBM Plex Sans" pitchFamily="34" charset="0"/>
                <a:ea typeface="IBM Plex Sans" pitchFamily="34" charset="-122"/>
                <a:cs typeface="IBM Plex Sans" pitchFamily="34" charset="-120"/>
              </a:rPr>
              <a:t>„Jak często w ciągu ostatnich 12 miesięcy zdarzyła Ci się taka sytuacja?” · od „Nigdy” do „Prawie za każdym razem”</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411" y="1957527"/>
          <a:ext cx="10556691" cy="2592678"/>
        </p:xfrm>
        <a:graphic>
          <a:graphicData uri="http://schemas.openxmlformats.org/drawingml/2006/table">
            <a:tbl>
              <a:tblPr/>
              <a:tblGrid>
                <a:gridCol w="6122881"/>
                <a:gridCol w="4433810"/>
              </a:tblGrid>
              <a:tr h="339728">
                <a:tc>
                  <a:txBody>
                    <a:bodyPr/>
                    <a:lstStyle/>
                    <a:p>
                      <a:pP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Sytuacja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1A262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A2625"/>
                      </a:solidFill>
                      <a:prstDash val="solid"/>
                      <a:round/>
                      <a:headEnd type="none" w="med" len="med"/>
                      <a:tailEnd type="none" w="med" len="med"/>
                    </a:lnB>
                    <a:solidFill>
                      <a:srgbClr val="1C2B2A"/>
                    </a:solidFill>
                  </a:tcPr>
                </a:tc>
                <a:tc>
                  <a:txBody>
                    <a:bodyPr/>
                    <a:lstStyle/>
                    <a:p>
                      <a:pPr indent="0" marL="0">
                        <a:lnSpc>
                          <a:spcPts val="1820"/>
                        </a:lnSpc>
                        <a:buNone/>
                      </a:pPr>
                      <a:r>
                        <a:rPr lang="en-US" sz="1300" b="1" dirty="0">
                          <a:solidFill>
                            <a:srgbClr val="F6F3EC"/>
                          </a:solidFill>
                          <a:latin typeface="IBM Plex Sans" pitchFamily="34" charset="0"/>
                          <a:ea typeface="IBM Plex Sans" pitchFamily="34" charset="-122"/>
                          <a:cs typeface="IBM Plex Sans" pitchFamily="34" charset="-120"/>
                        </a:rPr>
                        <a:t>Jeśli częsta, w aplikacji pojawi się</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A2625"/>
                      </a:solidFill>
                      <a:prstDash val="solid"/>
                      <a:round/>
                      <a:headEnd type="none" w="med" len="med"/>
                      <a:tailEnd type="none" w="med" len="med"/>
                    </a:lnL>
                    <a:lnR w="12700" cap="flat" cmpd="sng" algn="ctr">
                      <a:solidFill>
                        <a:srgbClr val="1A262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A2625"/>
                      </a:solidFill>
                      <a:prstDash val="solid"/>
                      <a:round/>
                      <a:headEnd type="none" w="med" len="med"/>
                      <a:tailEnd type="none" w="med" len="med"/>
                    </a:lnB>
                    <a:solidFill>
                      <a:srgbClr val="1C2B2A"/>
                    </a:solidFill>
                  </a:tcPr>
                </a:tc>
              </a:tr>
              <a:tr h="554312">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Zrezygnowałem/-am ze spaceru lub go skróciłem/-am z obawy, że nie zdążę wrócić</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A262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Gwarancja powrotu na czas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A262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9728">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Ciekawa trasa była za daleko od miejsca, w którym byłem/-am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Trasa startująca tam, gdzie stoję</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r h="339728">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Przeglądałem/-am mapy i opinie dłużej, niż chciałem/-am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Jedna gotowa propozycja zamiast listy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9728">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Miejsce okazało się zamknięte, choć źródło mówiło, że jest otwarte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Godziny otwarcia sprawdzane na żywo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r h="339728">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Przepisywałem/-am ręcznie miejsca z forum lub bloga do mapy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Import listy miejsc do trasy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39728">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Trafiłem/-am w tłum, którego wolałbym/wolałabym uniknąć</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820"/>
                        </a:lnSpc>
                        <a:buNone/>
                      </a:pPr>
                      <a:r>
                        <a:rPr lang="en-US" sz="1300" dirty="0">
                          <a:solidFill>
                            <a:srgbClr val="1C2B2A"/>
                          </a:solidFill>
                          <a:latin typeface="IBM Plex Sans" pitchFamily="34" charset="0"/>
                          <a:ea typeface="IBM Plex Sans" pitchFamily="34" charset="-122"/>
                          <a:cs typeface="IBM Plex Sans" pitchFamily="34" charset="-120"/>
                        </a:rPr>
                        <a:t>Tryb „anty-tłum”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bl>
          </a:graphicData>
        </a:graphic>
      </p:graphicFrame>
      <p:sp>
        <p:nvSpPr>
          <p:cNvPr id="6" name="Text 3"/>
          <p:cNvSpPr/>
          <p:nvPr/>
        </p:nvSpPr>
        <p:spPr>
          <a:xfrm>
            <a:off x="812750" y="4778753"/>
            <a:ext cx="10883421"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52"/>
                </a:solidFill>
                <a:latin typeface="IBM Plex Sans" pitchFamily="34" charset="0"/>
                <a:ea typeface="IBM Plex Sans" pitchFamily="34" charset="-122"/>
                <a:cs typeface="IBM Plex Sans" pitchFamily="34" charset="-120"/>
              </a:rPr>
              <a:t>Rzadka odpowiedź też jest wynikiem: funkcja przesuwa się na później albo wypada z planu.</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5121864"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B2A"/>
                </a:solidFill>
                <a:latin typeface="Fraunces" pitchFamily="18" charset="0"/>
                <a:ea typeface="Fraunces" pitchFamily="18" charset="-122"/>
                <a:cs typeface="Fraunces" pitchFamily="18" charset="-120"/>
              </a:rPr>
              <a:t>Czy zaufają trasie od AI</a:t>
            </a:r>
            <a:endParaRPr lang="en-US" sz="3200" dirty="0"/>
          </a:p>
        </p:txBody>
      </p:sp>
      <p:sp>
        <p:nvSpPr>
          <p:cNvPr id="3" name="Text 1"/>
          <p:cNvSpPr/>
          <p:nvPr/>
        </p:nvSpPr>
        <p:spPr>
          <a:xfrm>
            <a:off x="10584391" y="878793"/>
            <a:ext cx="794786" cy="314895"/>
          </a:xfrm>
          <a:prstGeom prst="roundRect">
            <a:avLst>
              <a:gd name="adj" fmla="val 50000"/>
            </a:avLst>
          </a:prstGeom>
          <a:solidFill>
            <a:srgbClr val="2F6F62"/>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Część 4</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411" y="1523377"/>
          <a:ext cx="10556691" cy="2479914"/>
        </p:xfrm>
        <a:graphic>
          <a:graphicData uri="http://schemas.openxmlformats.org/drawingml/2006/table">
            <a:tbl>
              <a:tblPr/>
              <a:tblGrid>
                <a:gridCol w="4644944"/>
                <a:gridCol w="5911747"/>
              </a:tblGrid>
              <a:tr h="314291">
                <a:tc>
                  <a:txBody>
                    <a:bodyPr/>
                    <a:lstStyle/>
                    <a:p>
                      <a:pP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Pytanie w ankiecie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1A262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A2625"/>
                      </a:solidFill>
                      <a:prstDash val="solid"/>
                      <a:round/>
                      <a:headEnd type="none" w="med" len="med"/>
                      <a:tailEnd type="none" w="med" len="med"/>
                    </a:lnB>
                    <a:solidFill>
                      <a:srgbClr val="1C2B2A"/>
                    </a:solidFill>
                  </a:tcPr>
                </a:tc>
                <a:tc>
                  <a:txBody>
                    <a:bodyPr/>
                    <a:lstStyle/>
                    <a:p>
                      <a:pP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Co nam to powie i co zmieni w aplikacji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A2625"/>
                      </a:solidFill>
                      <a:prstDash val="solid"/>
                      <a:round/>
                      <a:headEnd type="none" w="med" len="med"/>
                      <a:tailEnd type="none" w="med" len="med"/>
                    </a:lnL>
                    <a:lnR w="12700" cap="flat" cmpd="sng" algn="ctr">
                      <a:solidFill>
                        <a:srgbClr val="1A262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A2625"/>
                      </a:solidFill>
                      <a:prstDash val="solid"/>
                      <a:round/>
                      <a:headEnd type="none" w="med" len="med"/>
                      <a:tailEnd type="none" w="med" len="med"/>
                    </a:lnB>
                    <a:solidFill>
                      <a:srgbClr val="1C2B2A"/>
                    </a:solidFill>
                  </a:tcPr>
                </a:tc>
              </a:tr>
              <a:tr h="314291">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Jak często w ostatnim miesiącu korzystałeś/-aś z czatu 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A262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Czy możemy zakładać obycie z czatem, czy interfejs musi prowadzić krok po kroku.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A262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Czy plan od czatu AI miał błędy? (zamknięte miejsce, nierealne odległości, zła kolejność)</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Każdy typ błędu to test, który aplikacja wykona, zanim pokaże trasę.</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„Zanim pójdę w miejsce polecone przez AI, sprawdzam je w innym źródle”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Jeśli tak robi większość, przy każdym punkcie pokazujemy źródło i link do mapy.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14291">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„Opisanie słowami, czego szukam, jest wygodniejsze niż filtry”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Decyduje o ekranie startowym: jedno pole na prośbę czy klasyczne filtry.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Co zwiększyłoby Twoje zaufanie do trasy od AI? (maks. 3 odpowiedzi)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Ranking mówi, co zrobić najpierw: godziny otwarcia, pewny czas powrotu czy opinie innych.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2B2A"/>
        </a:solidFill>
      </p:bgPr>
    </p:bg>
    <p:spTree>
      <p:nvGrpSpPr>
        <p:cNvPr id="1" name=""/>
        <p:cNvGrpSpPr/>
        <p:nvPr/>
      </p:nvGrpSpPr>
      <p:grpSpPr>
        <a:xfrm>
          <a:off x="0" y="0"/>
          <a:ext cx="0" cy="0"/>
          <a:chOff x="0" y="0"/>
          <a:chExt cx="0" cy="0"/>
        </a:xfrm>
      </p:grpSpPr>
      <p:sp>
        <p:nvSpPr>
          <p:cNvPr id="2" name="Text 0"/>
          <p:cNvSpPr/>
          <p:nvPr/>
        </p:nvSpPr>
        <p:spPr>
          <a:xfrm>
            <a:off x="812750" y="81275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27A"/>
                </a:solidFill>
                <a:latin typeface="IBM Plex Sans" pitchFamily="34" charset="0"/>
                <a:ea typeface="IBM Plex Sans" pitchFamily="34" charset="-122"/>
                <a:cs typeface="IBM Plex Sans" pitchFamily="34" charset="-120"/>
              </a:rPr>
              <a:t>CZĘŚĆ 5 · KTÓRE FUNKCJE SĄ KONIECZNE</a:t>
            </a:r>
            <a:endParaRPr lang="en-US" sz="1200" dirty="0"/>
          </a:p>
        </p:txBody>
      </p:sp>
      <p:sp>
        <p:nvSpPr>
          <p:cNvPr id="3" name="Text 1"/>
          <p:cNvSpPr/>
          <p:nvPr>
            <p:ph type="title"/>
          </p:nvPr>
        </p:nvSpPr>
        <p:spPr>
          <a:xfrm>
            <a:off x="812750" y="1127646"/>
            <a:ext cx="10883421"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3EC"/>
                </a:solidFill>
                <a:latin typeface="Fraunces" pitchFamily="18" charset="0"/>
                <a:ea typeface="Fraunces" pitchFamily="18" charset="-122"/>
                <a:cs typeface="Fraunces" pitchFamily="18" charset="-120"/>
              </a:rPr>
              <a:t>Pytamy też, co czują, gdy funkcji brakuje</a:t>
            </a:r>
            <a:endParaRPr lang="en-US" sz="3200" dirty="0"/>
          </a:p>
        </p:txBody>
      </p:sp>
      <p:sp>
        <p:nvSpPr>
          <p:cNvPr id="4" name="Text 2"/>
          <p:cNvSpPr/>
          <p:nvPr/>
        </p:nvSpPr>
        <p:spPr>
          <a:xfrm>
            <a:off x="812750" y="1879408"/>
            <a:ext cx="5232388" cy="77218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7C2"/>
                </a:solidFill>
                <a:latin typeface="IBM Plex Sans" pitchFamily="34" charset="0"/>
                <a:ea typeface="IBM Plex Sans" pitchFamily="34" charset="-122"/>
                <a:cs typeface="IBM Plex Sans" pitchFamily="34" charset="-120"/>
              </a:rPr>
              <a:t>Przy każdej funkcji dwa pytania: </a:t>
            </a:r>
            <a:r>
              <a:rPr lang="en-US" sz="1400" b="1" dirty="0">
                <a:solidFill>
                  <a:srgbClr val="F6F3EC"/>
                </a:solidFill>
                <a:latin typeface="IBM Plex Sans" pitchFamily="34" charset="0"/>
                <a:ea typeface="IBM Plex Sans" pitchFamily="34" charset="-122"/>
                <a:cs typeface="IBM Plex Sans" pitchFamily="34" charset="-120"/>
              </a:rPr>
              <a:t>co czujesz, gdy aplikacja ją ma?</a:t>
            </a:r>
            <a:r>
              <a:rPr lang="en-US" sz="1400" dirty="0">
                <a:solidFill>
                  <a:srgbClr val="B9C7C2"/>
                </a:solidFill>
                <a:latin typeface="IBM Plex Sans" pitchFamily="34" charset="0"/>
                <a:ea typeface="IBM Plex Sans" pitchFamily="34" charset="-122"/>
                <a:cs typeface="IBM Plex Sans" pitchFamily="34" charset="-120"/>
              </a:rPr>
              <a:t> i </a:t>
            </a:r>
            <a:r>
              <a:rPr lang="en-US" sz="1400" b="1" dirty="0">
                <a:solidFill>
                  <a:srgbClr val="F6F3EC"/>
                </a:solidFill>
                <a:latin typeface="IBM Plex Sans" pitchFamily="34" charset="0"/>
                <a:ea typeface="IBM Plex Sans" pitchFamily="34" charset="-122"/>
                <a:cs typeface="IBM Plex Sans" pitchFamily="34" charset="-120"/>
              </a:rPr>
              <a:t>co czujesz, gdy jej nie ma?</a:t>
            </a:r>
            <a:r>
              <a:rPr lang="en-US" sz="1400" dirty="0">
                <a:solidFill>
                  <a:srgbClr val="B9C7C2"/>
                </a:solidFill>
                <a:latin typeface="IBM Plex Sans" pitchFamily="34" charset="0"/>
                <a:ea typeface="IBM Plex Sans" pitchFamily="34" charset="-122"/>
                <a:cs typeface="IBM Plex Sans" pitchFamily="34" charset="-120"/>
              </a:rPr>
              <a:t> (model Kano). Badamy siedem funkcji:</a:t>
            </a:r>
            <a:endParaRPr lang="en-US" sz="1400" dirty="0"/>
          </a:p>
        </p:txBody>
      </p:sp>
      <p:sp>
        <p:nvSpPr>
          <p:cNvPr id="5" name="Text 3"/>
          <p:cNvSpPr/>
          <p:nvPr/>
        </p:nvSpPr>
        <p:spPr>
          <a:xfrm>
            <a:off x="898094" y="2753147"/>
            <a:ext cx="5139424" cy="1758381"/>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F6F3EC"/>
                </a:solidFill>
                <a:latin typeface="IBM Plex Sans" pitchFamily="34" charset="0"/>
                <a:ea typeface="IBM Plex Sans" pitchFamily="34" charset="-122"/>
                <a:cs typeface="IBM Plex Sans" pitchFamily="34" charset="-120"/>
              </a:rPr>
              <a:t>gwarancja powrotu na czas</a:t>
            </a:r>
            <a:endParaRPr lang="en-US" sz="1300" dirty="0"/>
          </a:p>
          <a:p>
            <a:pPr algn="l" marL="168656" indent="-168656">
              <a:lnSpc>
                <a:spcPts val="1950"/>
              </a:lnSpc>
              <a:buSzPct val="100000"/>
              <a:buChar char="•"/>
            </a:pPr>
            <a:r>
              <a:rPr lang="en-US" sz="1300" dirty="0">
                <a:solidFill>
                  <a:srgbClr val="F6F3EC"/>
                </a:solidFill>
                <a:latin typeface="IBM Plex Sans" pitchFamily="34" charset="0"/>
                <a:ea typeface="IBM Plex Sans" pitchFamily="34" charset="-122"/>
                <a:cs typeface="IBM Plex Sans" pitchFamily="34" charset="-120"/>
              </a:rPr>
              <a:t>start tam, gdzie jesteś</a:t>
            </a:r>
            <a:endParaRPr lang="en-US" sz="1300" dirty="0"/>
          </a:p>
          <a:p>
            <a:pPr algn="l" marL="168656" indent="-168656">
              <a:lnSpc>
                <a:spcPts val="1950"/>
              </a:lnSpc>
              <a:buSzPct val="100000"/>
              <a:buChar char="•"/>
            </a:pPr>
            <a:r>
              <a:rPr lang="en-US" sz="1300" dirty="0">
                <a:solidFill>
                  <a:srgbClr val="F6F3EC"/>
                </a:solidFill>
                <a:latin typeface="IBM Plex Sans" pitchFamily="34" charset="0"/>
                <a:ea typeface="IBM Plex Sans" pitchFamily="34" charset="-122"/>
                <a:cs typeface="IBM Plex Sans" pitchFamily="34" charset="-120"/>
              </a:rPr>
              <a:t>prośba opisana własnymi słowami</a:t>
            </a:r>
            <a:endParaRPr lang="en-US" sz="1300" dirty="0"/>
          </a:p>
          <a:p>
            <a:pPr algn="l" marL="168656" indent="-168656">
              <a:lnSpc>
                <a:spcPts val="1950"/>
              </a:lnSpc>
              <a:buSzPct val="100000"/>
              <a:buChar char="•"/>
            </a:pPr>
            <a:r>
              <a:rPr lang="en-US" sz="1300" dirty="0">
                <a:solidFill>
                  <a:srgbClr val="F6F3EC"/>
                </a:solidFill>
                <a:latin typeface="IBM Plex Sans" pitchFamily="34" charset="0"/>
                <a:ea typeface="IBM Plex Sans" pitchFamily="34" charset="-122"/>
                <a:cs typeface="IBM Plex Sans" pitchFamily="34" charset="-120"/>
              </a:rPr>
              <a:t>sprawdzanie godzin otwarcia i pogody</a:t>
            </a:r>
            <a:endParaRPr lang="en-US" sz="1300" dirty="0"/>
          </a:p>
          <a:p>
            <a:pPr algn="l" marL="168656" indent="-168656">
              <a:lnSpc>
                <a:spcPts val="1950"/>
              </a:lnSpc>
              <a:buSzPct val="100000"/>
              <a:buChar char="•"/>
            </a:pPr>
            <a:r>
              <a:rPr lang="en-US" sz="1300" dirty="0">
                <a:solidFill>
                  <a:srgbClr val="F6F3EC"/>
                </a:solidFill>
                <a:latin typeface="IBM Plex Sans" pitchFamily="34" charset="0"/>
                <a:ea typeface="IBM Plex Sans" pitchFamily="34" charset="-122"/>
                <a:cs typeface="IBM Plex Sans" pitchFamily="34" charset="-120"/>
              </a:rPr>
              <a:t>tryb „anty-tłum”</a:t>
            </a:r>
            <a:endParaRPr lang="en-US" sz="1300" dirty="0"/>
          </a:p>
          <a:p>
            <a:pPr algn="l" marL="168656" indent="-168656">
              <a:lnSpc>
                <a:spcPts val="1950"/>
              </a:lnSpc>
              <a:buSzPct val="100000"/>
              <a:buChar char="•"/>
            </a:pPr>
            <a:r>
              <a:rPr lang="en-US" sz="1300" dirty="0">
                <a:solidFill>
                  <a:srgbClr val="F6F3EC"/>
                </a:solidFill>
                <a:latin typeface="IBM Plex Sans" pitchFamily="34" charset="0"/>
                <a:ea typeface="IBM Plex Sans" pitchFamily="34" charset="-122"/>
                <a:cs typeface="IBM Plex Sans" pitchFamily="34" charset="-120"/>
              </a:rPr>
              <a:t>trzyzdaniowa wskazówka przy punkcie</a:t>
            </a:r>
            <a:endParaRPr lang="en-US" sz="1300" dirty="0"/>
          </a:p>
          <a:p>
            <a:pPr algn="l" marL="168656" indent="-168656">
              <a:lnSpc>
                <a:spcPts val="1950"/>
              </a:lnSpc>
              <a:buSzPct val="100000"/>
              <a:buChar char="•"/>
            </a:pPr>
            <a:r>
              <a:rPr lang="en-US" sz="1300" dirty="0">
                <a:solidFill>
                  <a:srgbClr val="F6F3EC"/>
                </a:solidFill>
                <a:latin typeface="IBM Plex Sans" pitchFamily="34" charset="0"/>
                <a:ea typeface="IBM Plex Sans" pitchFamily="34" charset="-122"/>
                <a:cs typeface="IBM Plex Sans" pitchFamily="34" charset="-120"/>
              </a:rPr>
              <a:t>oznaczona oferta lokalu na trasie</a:t>
            </a:r>
            <a:endParaRPr lang="en-US" sz="1300" dirty="0"/>
          </a:p>
        </p:txBody>
      </p:sp>
      <p:sp>
        <p:nvSpPr>
          <p:cNvPr id="6" name="Text 4"/>
          <p:cNvSpPr/>
          <p:nvPr/>
        </p:nvSpPr>
        <p:spPr>
          <a:xfrm>
            <a:off x="6299114" y="1879408"/>
            <a:ext cx="5232466" cy="23870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0A27A"/>
                </a:solidFill>
                <a:latin typeface="IBM Plex Sans" pitchFamily="34" charset="0"/>
                <a:ea typeface="IBM Plex Sans" pitchFamily="34" charset="-122"/>
                <a:cs typeface="IBM Plex Sans" pitchFamily="34" charset="-120"/>
              </a:rPr>
              <a:t>Wynik dla każdej funkcji</a:t>
            </a:r>
            <a:endParaRPr lang="en-US" sz="1200" dirty="0"/>
          </a:p>
        </p:txBody>
      </p:sp>
      <p:sp>
        <p:nvSpPr>
          <p:cNvPr id="7" name="Text 5"/>
          <p:cNvSpPr/>
          <p:nvPr/>
        </p:nvSpPr>
        <p:spPr>
          <a:xfrm>
            <a:off x="6299114" y="2168866"/>
            <a:ext cx="5080064" cy="417772"/>
          </a:xfrm>
          <a:prstGeom prst="roundRect">
            <a:avLst>
              <a:gd name="adj" fmla="val 18240"/>
            </a:avLst>
          </a:prstGeom>
          <a:solidFill>
            <a:srgbClr val="25393A"/>
          </a:solidFill>
          <a:ln/>
        </p:spPr>
        <p:txBody>
          <a:bodyPr wrap="square" lIns="155482" tIns="66576" rIns="155482" bIns="66576" rtlCol="0" anchor="ctr">
            <a:normAutofit/>
          </a:bodyPr>
          <a:lstStyle/>
          <a:p>
            <a:pPr algn="l" indent="0" marL="0">
              <a:lnSpc>
                <a:spcPts val="1690"/>
              </a:lnSpc>
              <a:buNone/>
            </a:pPr>
            <a:r>
              <a:rPr lang="en-US" sz="1300" b="1" dirty="0">
                <a:solidFill>
                  <a:srgbClr val="F6F3EC"/>
                </a:solidFill>
                <a:latin typeface="IBM Plex Sans" pitchFamily="34" charset="0"/>
                <a:ea typeface="IBM Plex Sans" pitchFamily="34" charset="-122"/>
                <a:cs typeface="IBM Plex Sans" pitchFamily="34" charset="-120"/>
              </a:rPr>
              <a:t>Konieczna:</a:t>
            </a:r>
            <a:r>
              <a:rPr lang="en-US" sz="1300" dirty="0">
                <a:solidFill>
                  <a:srgbClr val="F6F3EC"/>
                </a:solidFill>
                <a:latin typeface="IBM Plex Sans" pitchFamily="34" charset="0"/>
                <a:ea typeface="IBM Plex Sans" pitchFamily="34" charset="-122"/>
                <a:cs typeface="IBM Plex Sans" pitchFamily="34" charset="-120"/>
              </a:rPr>
              <a:t> musi być w pierwszej wersji</a:t>
            </a:r>
            <a:endParaRPr lang="en-US" sz="1300" dirty="0"/>
          </a:p>
        </p:txBody>
      </p:sp>
      <p:sp>
        <p:nvSpPr>
          <p:cNvPr id="8" name="Text 6"/>
          <p:cNvSpPr/>
          <p:nvPr/>
        </p:nvSpPr>
        <p:spPr>
          <a:xfrm>
            <a:off x="6299114" y="2662796"/>
            <a:ext cx="5080064" cy="417772"/>
          </a:xfrm>
          <a:prstGeom prst="roundRect">
            <a:avLst>
              <a:gd name="adj" fmla="val 18240"/>
            </a:avLst>
          </a:prstGeom>
          <a:solidFill>
            <a:srgbClr val="25393A"/>
          </a:solidFill>
          <a:ln/>
        </p:spPr>
        <p:txBody>
          <a:bodyPr wrap="square" lIns="155482" tIns="66576" rIns="155482" bIns="66576" rtlCol="0" anchor="ctr">
            <a:normAutofit/>
          </a:bodyPr>
          <a:lstStyle/>
          <a:p>
            <a:pPr algn="l" indent="0" marL="0">
              <a:lnSpc>
                <a:spcPts val="1690"/>
              </a:lnSpc>
              <a:buNone/>
            </a:pPr>
            <a:r>
              <a:rPr lang="en-US" sz="1300" b="1" dirty="0">
                <a:solidFill>
                  <a:srgbClr val="F6F3EC"/>
                </a:solidFill>
                <a:latin typeface="IBM Plex Sans" pitchFamily="34" charset="0"/>
                <a:ea typeface="IBM Plex Sans" pitchFamily="34" charset="-122"/>
                <a:cs typeface="IBM Plex Sans" pitchFamily="34" charset="-120"/>
              </a:rPr>
              <a:t>Im lepsza, tym lepiej:</a:t>
            </a:r>
            <a:r>
              <a:rPr lang="en-US" sz="1300" dirty="0">
                <a:solidFill>
                  <a:srgbClr val="F6F3EC"/>
                </a:solidFill>
                <a:latin typeface="IBM Plex Sans" pitchFamily="34" charset="0"/>
                <a:ea typeface="IBM Plex Sans" pitchFamily="34" charset="-122"/>
                <a:cs typeface="IBM Plex Sans" pitchFamily="34" charset="-120"/>
              </a:rPr>
              <a:t> inwestujemy w jakość</a:t>
            </a:r>
            <a:endParaRPr lang="en-US" sz="1300" dirty="0"/>
          </a:p>
        </p:txBody>
      </p:sp>
      <p:sp>
        <p:nvSpPr>
          <p:cNvPr id="9" name="Text 7"/>
          <p:cNvSpPr/>
          <p:nvPr/>
        </p:nvSpPr>
        <p:spPr>
          <a:xfrm>
            <a:off x="6299114" y="3156725"/>
            <a:ext cx="5080064" cy="417772"/>
          </a:xfrm>
          <a:prstGeom prst="roundRect">
            <a:avLst>
              <a:gd name="adj" fmla="val 18240"/>
            </a:avLst>
          </a:prstGeom>
          <a:solidFill>
            <a:srgbClr val="25393A"/>
          </a:solidFill>
          <a:ln/>
        </p:spPr>
        <p:txBody>
          <a:bodyPr wrap="square" lIns="155482" tIns="66576" rIns="155482" bIns="66576" rtlCol="0" anchor="ctr">
            <a:normAutofit/>
          </a:bodyPr>
          <a:lstStyle/>
          <a:p>
            <a:pPr algn="l" indent="0" marL="0">
              <a:lnSpc>
                <a:spcPts val="1690"/>
              </a:lnSpc>
              <a:buNone/>
            </a:pPr>
            <a:r>
              <a:rPr lang="en-US" sz="1300" b="1" dirty="0">
                <a:solidFill>
                  <a:srgbClr val="F6F3EC"/>
                </a:solidFill>
                <a:latin typeface="IBM Plex Sans" pitchFamily="34" charset="0"/>
                <a:ea typeface="IBM Plex Sans" pitchFamily="34" charset="-122"/>
                <a:cs typeface="IBM Plex Sans" pitchFamily="34" charset="-120"/>
              </a:rPr>
              <a:t>Zachwyca:</a:t>
            </a:r>
            <a:r>
              <a:rPr lang="en-US" sz="1300" dirty="0">
                <a:solidFill>
                  <a:srgbClr val="F6F3EC"/>
                </a:solidFill>
                <a:latin typeface="IBM Plex Sans" pitchFamily="34" charset="0"/>
                <a:ea typeface="IBM Plex Sans" pitchFamily="34" charset="-122"/>
                <a:cs typeface="IBM Plex Sans" pitchFamily="34" charset="-120"/>
              </a:rPr>
              <a:t> wyróżnik w promocji aplikacji</a:t>
            </a:r>
            <a:endParaRPr lang="en-US" sz="1300" dirty="0"/>
          </a:p>
        </p:txBody>
      </p:sp>
      <p:sp>
        <p:nvSpPr>
          <p:cNvPr id="10" name="Text 8"/>
          <p:cNvSpPr/>
          <p:nvPr/>
        </p:nvSpPr>
        <p:spPr>
          <a:xfrm>
            <a:off x="6299114" y="3650661"/>
            <a:ext cx="5080064" cy="417772"/>
          </a:xfrm>
          <a:prstGeom prst="roundRect">
            <a:avLst>
              <a:gd name="adj" fmla="val 18240"/>
            </a:avLst>
          </a:prstGeom>
          <a:solidFill>
            <a:srgbClr val="25393A"/>
          </a:solidFill>
          <a:ln/>
        </p:spPr>
        <p:txBody>
          <a:bodyPr wrap="square" lIns="155482" tIns="66576" rIns="155482" bIns="66576" rtlCol="0" anchor="ctr">
            <a:normAutofit/>
          </a:bodyPr>
          <a:lstStyle/>
          <a:p>
            <a:pPr algn="l" indent="0" marL="0">
              <a:lnSpc>
                <a:spcPts val="1690"/>
              </a:lnSpc>
              <a:buNone/>
            </a:pPr>
            <a:r>
              <a:rPr lang="en-US" sz="1300" b="1" dirty="0">
                <a:solidFill>
                  <a:srgbClr val="F6F3EC"/>
                </a:solidFill>
                <a:latin typeface="IBM Plex Sans" pitchFamily="34" charset="0"/>
                <a:ea typeface="IBM Plex Sans" pitchFamily="34" charset="-122"/>
                <a:cs typeface="IBM Plex Sans" pitchFamily="34" charset="-120"/>
              </a:rPr>
              <a:t>Obojętna:</a:t>
            </a:r>
            <a:r>
              <a:rPr lang="en-US" sz="1300" dirty="0">
                <a:solidFill>
                  <a:srgbClr val="F6F3EC"/>
                </a:solidFill>
                <a:latin typeface="IBM Plex Sans" pitchFamily="34" charset="0"/>
                <a:ea typeface="IBM Plex Sans" pitchFamily="34" charset="-122"/>
                <a:cs typeface="IBM Plex Sans" pitchFamily="34" charset="-120"/>
              </a:rPr>
              <a:t> wycinamy z planu</a:t>
            </a:r>
            <a:endParaRPr lang="en-US" sz="1300" dirty="0"/>
          </a:p>
        </p:txBody>
      </p:sp>
      <p:sp>
        <p:nvSpPr>
          <p:cNvPr id="11" name="Text 9"/>
          <p:cNvSpPr/>
          <p:nvPr/>
        </p:nvSpPr>
        <p:spPr>
          <a:xfrm>
            <a:off x="6299114" y="4144590"/>
            <a:ext cx="5080064" cy="417772"/>
          </a:xfrm>
          <a:prstGeom prst="roundRect">
            <a:avLst>
              <a:gd name="adj" fmla="val 18240"/>
            </a:avLst>
          </a:prstGeom>
          <a:solidFill>
            <a:srgbClr val="25393A"/>
          </a:solidFill>
          <a:ln/>
        </p:spPr>
        <p:txBody>
          <a:bodyPr wrap="square" lIns="155482" tIns="66576" rIns="155482" bIns="66576" rtlCol="0" anchor="ctr">
            <a:normAutofit/>
          </a:bodyPr>
          <a:lstStyle/>
          <a:p>
            <a:pPr algn="l" indent="0" marL="0">
              <a:lnSpc>
                <a:spcPts val="1690"/>
              </a:lnSpc>
              <a:buNone/>
            </a:pPr>
            <a:r>
              <a:rPr lang="en-US" sz="1300" b="1" dirty="0">
                <a:solidFill>
                  <a:srgbClr val="F6F3EC"/>
                </a:solidFill>
                <a:latin typeface="IBM Plex Sans" pitchFamily="34" charset="0"/>
                <a:ea typeface="IBM Plex Sans" pitchFamily="34" charset="-122"/>
                <a:cs typeface="IBM Plex Sans" pitchFamily="34" charset="-120"/>
              </a:rPr>
              <a:t>Przeszkadza:</a:t>
            </a:r>
            <a:r>
              <a:rPr lang="en-US" sz="1300" dirty="0">
                <a:solidFill>
                  <a:srgbClr val="F6F3EC"/>
                </a:solidFill>
                <a:latin typeface="IBM Plex Sans" pitchFamily="34" charset="0"/>
                <a:ea typeface="IBM Plex Sans" pitchFamily="34" charset="-122"/>
                <a:cs typeface="IBM Plex Sans" pitchFamily="34" charset="-120"/>
              </a:rPr>
              <a:t> usuwamy albo zmieniamy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6961692"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B2A"/>
                </a:solidFill>
                <a:latin typeface="Fraunces" pitchFamily="18" charset="0"/>
                <a:ea typeface="Fraunces" pitchFamily="18" charset="-122"/>
                <a:cs typeface="Fraunces" pitchFamily="18" charset="-120"/>
              </a:rPr>
              <a:t>Czy model biznesowy się obroni</a:t>
            </a:r>
            <a:endParaRPr lang="en-US" sz="3200" dirty="0"/>
          </a:p>
        </p:txBody>
      </p:sp>
      <p:sp>
        <p:nvSpPr>
          <p:cNvPr id="3" name="Text 1"/>
          <p:cNvSpPr/>
          <p:nvPr/>
        </p:nvSpPr>
        <p:spPr>
          <a:xfrm>
            <a:off x="10584391" y="878793"/>
            <a:ext cx="794786" cy="314895"/>
          </a:xfrm>
          <a:prstGeom prst="roundRect">
            <a:avLst>
              <a:gd name="adj" fmla="val 50000"/>
            </a:avLst>
          </a:prstGeom>
          <a:solidFill>
            <a:srgbClr val="2F6F62"/>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Część 6</a:t>
            </a:r>
            <a:endParaRPr lang="en-US" sz="1200" dirty="0"/>
          </a:p>
        </p:txBody>
      </p:sp>
      <p:sp>
        <p:nvSpPr>
          <p:cNvPr id="4" name="Text 2"/>
          <p:cNvSpPr/>
          <p:nvPr/>
        </p:nvSpPr>
        <p:spPr>
          <a:xfrm>
            <a:off x="812750" y="1488281"/>
            <a:ext cx="10883421" cy="25643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52"/>
                </a:solidFill>
                <a:latin typeface="IBM Plex Sans" pitchFamily="34" charset="0"/>
                <a:ea typeface="IBM Plex Sans" pitchFamily="34" charset="-122"/>
                <a:cs typeface="IBM Plex Sans" pitchFamily="34" charset="-120"/>
              </a:rPr>
              <a:t>Deklaracje „zapłaciłbym” są zawyżone, dlatego pytamy o realne wydatki i o wybór między wariantami, a nie o kwotę.</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411" y="1957530"/>
          <a:ext cx="10556691" cy="2677968"/>
        </p:xfrm>
        <a:graphic>
          <a:graphicData uri="http://schemas.openxmlformats.org/drawingml/2006/table">
            <a:tbl>
              <a:tblPr/>
              <a:tblGrid>
                <a:gridCol w="4644944"/>
                <a:gridCol w="5911747"/>
              </a:tblGrid>
              <a:tr h="314291">
                <a:tc>
                  <a:txBody>
                    <a:bodyPr/>
                    <a:lstStyle/>
                    <a:p>
                      <a:pP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Pytanie w ankiecie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1A262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A2625"/>
                      </a:solidFill>
                      <a:prstDash val="solid"/>
                      <a:round/>
                      <a:headEnd type="none" w="med" len="med"/>
                      <a:tailEnd type="none" w="med" len="med"/>
                    </a:lnB>
                    <a:solidFill>
                      <a:srgbClr val="1C2B2A"/>
                    </a:solidFill>
                  </a:tcPr>
                </a:tc>
                <a:tc>
                  <a:txBody>
                    <a:bodyPr/>
                    <a:lstStyle/>
                    <a:p>
                      <a:pP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Co nam to powie i co zmieni w aplikacji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A2625"/>
                      </a:solidFill>
                      <a:prstDash val="solid"/>
                      <a:round/>
                      <a:headEnd type="none" w="med" len="med"/>
                      <a:tailEnd type="none" w="med" len="med"/>
                    </a:lnL>
                    <a:lnR w="12700" cap="flat" cmpd="sng" algn="ctr">
                      <a:solidFill>
                        <a:srgbClr val="1A262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A2625"/>
                      </a:solidFill>
                      <a:prstDash val="solid"/>
                      <a:round/>
                      <a:headEnd type="none" w="med" len="med"/>
                      <a:tailEnd type="none" w="med" len="med"/>
                    </a:lnB>
                    <a:solidFill>
                      <a:srgbClr val="1C2B2A"/>
                    </a:solidFill>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Za co zapłaciłeś/-aś w ciągu 12 miesięcy? (aplikacja z trasami, przewodnik, wycieczka, płatny czat 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A262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Jeśli większość nie płaci za nic, aplikacja zostaje darmowa, a przychód dają lokale.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A262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Który wariant wybrałbyś/-abyś? (darmowa z ofertami lokali, z reklamami, płatna)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Przewaga „darmowej z ofertami lokali” to zielone światło dla ofert na trasie.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„Nie przeszkadza mi oferta na trasie, jeśli pasuje do mojej prośby”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Reguła algorytmu: oferta trafia do trasy tylko wtedy, gdy pasuje do zapytania.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Jak zmieniłoby się Twoje zaufanie, gdyby polecone miejsce zapłaciło za to bez oznaczenia?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Jeśli bardzo by spadło, każda oferta jest wyraźnie oznaczona jako sponsorowana.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r h="314291">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Ile ofert na jednej trasie jest dla Ciebie do przyjęcia?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Górny limit ofert na jedną trasę w algorytmie.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ph type="title"/>
          </p:nvPr>
        </p:nvSpPr>
        <p:spPr>
          <a:xfrm>
            <a:off x="812750" y="812750"/>
            <a:ext cx="7550603" cy="472382"/>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C2B2A"/>
                </a:solidFill>
                <a:latin typeface="Fraunces" pitchFamily="18" charset="0"/>
                <a:ea typeface="Fraunces" pitchFamily="18" charset="-122"/>
                <a:cs typeface="Fraunces" pitchFamily="18" charset="-120"/>
              </a:rPr>
              <a:t>Od odpowiedzi do funkcji aplikacji</a:t>
            </a:r>
            <a:endParaRPr lang="en-US" sz="3200" dirty="0"/>
          </a:p>
        </p:txBody>
      </p:sp>
      <p:sp>
        <p:nvSpPr>
          <p:cNvPr id="3" name="Text 1"/>
          <p:cNvSpPr/>
          <p:nvPr/>
        </p:nvSpPr>
        <p:spPr>
          <a:xfrm>
            <a:off x="10561371" y="878799"/>
            <a:ext cx="817807" cy="314895"/>
          </a:xfrm>
          <a:prstGeom prst="roundRect">
            <a:avLst>
              <a:gd name="adj" fmla="val 50000"/>
            </a:avLst>
          </a:prstGeom>
          <a:solidFill>
            <a:srgbClr val="A8481F"/>
          </a:solidFill>
          <a:ln/>
        </p:spPr>
        <p:txBody>
          <a:bodyPr wrap="none" lIns="0" tIns="0" rIns="0" bIns="0" rtlCol="0" anchor="ctr">
            <a:normAutofit/>
          </a:bodyPr>
          <a:lstStyle/>
          <a:p>
            <a:pPr algn="ct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Wnioski</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411" y="1523380"/>
          <a:ext cx="10556691" cy="2398095"/>
        </p:xfrm>
        <a:graphic>
          <a:graphicData uri="http://schemas.openxmlformats.org/drawingml/2006/table">
            <a:tbl>
              <a:tblPr/>
              <a:tblGrid>
                <a:gridCol w="5067212"/>
                <a:gridCol w="5489479"/>
              </a:tblGrid>
              <a:tr h="314291">
                <a:tc>
                  <a:txBody>
                    <a:bodyPr/>
                    <a:lstStyle/>
                    <a:p>
                      <a:pP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Jeśli ankieta pokaże, że…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1A262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A2625"/>
                      </a:solidFill>
                      <a:prstDash val="solid"/>
                      <a:round/>
                      <a:headEnd type="none" w="med" len="med"/>
                      <a:tailEnd type="none" w="med" len="med"/>
                    </a:lnB>
                    <a:solidFill>
                      <a:srgbClr val="1C2B2A"/>
                    </a:solidFill>
                  </a:tcPr>
                </a:tc>
                <a:tc>
                  <a:txBody>
                    <a:bodyPr/>
                    <a:lstStyle/>
                    <a:p>
                      <a:pPr indent="0" marL="0">
                        <a:lnSpc>
                          <a:spcPts val="1680"/>
                        </a:lnSpc>
                        <a:buNone/>
                      </a:pPr>
                      <a:r>
                        <a:rPr lang="en-US" sz="1200" b="1" dirty="0">
                          <a:solidFill>
                            <a:srgbClr val="F6F3EC"/>
                          </a:solidFill>
                          <a:latin typeface="IBM Plex Sans" pitchFamily="34" charset="0"/>
                          <a:ea typeface="IBM Plex Sans" pitchFamily="34" charset="-122"/>
                          <a:cs typeface="IBM Plex Sans" pitchFamily="34" charset="-120"/>
                        </a:rPr>
                        <a:t>…to w aplikacji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A2625"/>
                      </a:solidFill>
                      <a:prstDash val="solid"/>
                      <a:round/>
                      <a:headEnd type="none" w="med" len="med"/>
                      <a:tailEnd type="none" w="med" len="med"/>
                    </a:lnL>
                    <a:lnR w="12700" cap="flat" cmpd="sng" algn="ctr">
                      <a:solidFill>
                        <a:srgbClr val="1A2625"/>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1A2625"/>
                      </a:solidFill>
                      <a:prstDash val="solid"/>
                      <a:round/>
                      <a:headEnd type="none" w="med" len="med"/>
                      <a:tailEnd type="none" w="med" len="med"/>
                    </a:lnB>
                    <a:solidFill>
                      <a:srgbClr val="1C2B2A"/>
                    </a:solidFill>
                  </a:tcPr>
                </a:tc>
              </a:tr>
              <a:tr h="512346">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podróżni często rezygnują ze spaceru z obawy o powrót, a gwarancja powrotu jest dla nich konieczna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A262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Rdzeń pierwszej wersji: trasa „od drzwi do drzwi” zamknięta w zadanym czasie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1A2625"/>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14291">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ten problem jest rzadki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Zmiana rdzenia: odkrywanie okolicy dla mieszkańców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r h="314291">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ludzie trafiają na zamknięte miejsca, a plany od AI mają błędy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Dane na żywo: godziny otwarcia i pogoda sprawdzane, zanim pokażemy trasę</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14291">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opis słowami jest wygodniejszy niż filtry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Ekran startowy: jedno pole, np. „mam godzinę, chcę ciszy i dobrej kawy”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r h="314291">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mieszkańcy cenią ciszę i unikają tłumów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Tryb „anty-tłum” już w pierwszej wersji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DB9B1"/>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14291">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oferty lokali na trasie przeszkadzają</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2BC"/>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c>
                  <a:txBody>
                    <a:bodyPr/>
                    <a:lstStyle/>
                    <a:p>
                      <a:pPr indent="0" marL="0">
                        <a:lnSpc>
                          <a:spcPts val="1680"/>
                        </a:lnSpc>
                        <a:buNone/>
                      </a:pPr>
                      <a:r>
                        <a:rPr lang="en-US" sz="1200" dirty="0">
                          <a:solidFill>
                            <a:srgbClr val="1C2B2A"/>
                          </a:solidFill>
                          <a:latin typeface="IBM Plex Sans" pitchFamily="34" charset="0"/>
                          <a:ea typeface="IBM Plex Sans" pitchFamily="34" charset="-122"/>
                          <a:cs typeface="IBM Plex Sans" pitchFamily="34" charset="-120"/>
                        </a:rPr>
                        <a:t>Inny model przychodu, zanim zbudujemy panel dla lokali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DB9B1"/>
                      </a:solidFill>
                      <a:prstDash val="solid"/>
                      <a:round/>
                      <a:headEnd type="none" w="med" len="med"/>
                      <a:tailEnd type="none" w="med" len="med"/>
                    </a:lnL>
                    <a:lnR w="12700" cap="flat" cmpd="sng" algn="ctr">
                      <a:solidFill>
                        <a:srgbClr val="BDB9B1"/>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DB9B1"/>
                      </a:solidFill>
                      <a:prstDash val="solid"/>
                      <a:round/>
                      <a:headEnd type="none" w="med" len="med"/>
                      <a:tailEnd type="none" w="med" len="med"/>
                    </a:lnB>
                    <a:solidFill>
                      <a:srgbClr val="EDE8DD"/>
                    </a:solidFill>
                  </a:tcPr>
                </a:tc>
              </a:tr>
            </a:tbl>
          </a:graphicData>
        </a:graphic>
      </p:graphicFrame>
      <p:sp>
        <p:nvSpPr>
          <p:cNvPr id="5" name="Text 2"/>
          <p:cNvSpPr/>
          <p:nvPr/>
        </p:nvSpPr>
        <p:spPr>
          <a:xfrm>
            <a:off x="812750" y="4175460"/>
            <a:ext cx="10883421" cy="2387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52"/>
                </a:solidFill>
                <a:latin typeface="IBM Plex Sans" pitchFamily="34" charset="0"/>
                <a:ea typeface="IBM Plex Sans" pitchFamily="34" charset="-122"/>
                <a:cs typeface="IBM Plex Sans" pitchFamily="34" charset="-120"/>
              </a:rPr>
              <a:t>Progi, od których uznajemy wynik za potwierdzony, zapisujemy przed startem ankiety, żeby nie dopasować wniosków do wyników.</a:t>
            </a:r>
            <a:endParaRPr lang="en-US" sz="1200" dirty="0"/>
          </a:p>
        </p:txBody>
      </p:sp>
    </p:spTree>
  </p:cSld>
  <p:clrMapOvr>
    <a:masterClrMapping/>
  </p:clrMapOvr>
</p:sld>
</file>

<file path=ppt/theme/theme1.xml><?xml version="1.0" encoding="utf-8"?>
<a:theme xmlns:a="http://schemas.openxmlformats.org/drawingml/2006/main" name="Badanie potrzeb – spacery AI">
  <a:themeElements>
    <a:clrScheme name="Badanie potrzeb – spacery AI">
      <a:dk1>
        <a:srgbClr val="1C2B2A"/>
      </a:dk1>
      <a:lt1>
        <a:srgbClr val="F6F3EC"/>
      </a:lt1>
      <a:dk2>
        <a:srgbClr val="535D5B"/>
      </a:dk2>
      <a:lt2>
        <a:srgbClr val="E0DFD9"/>
      </a:lt2>
      <a:accent1>
        <a:srgbClr val="A8481F"/>
      </a:accent1>
      <a:accent2>
        <a:srgbClr val="2F6F62"/>
      </a:accent2>
      <a:accent3>
        <a:srgbClr val="F0A27A"/>
      </a:accent3>
      <a:accent4>
        <a:srgbClr val="4A5552"/>
      </a:accent4>
      <a:accent5>
        <a:srgbClr val="B9C7C2"/>
      </a:accent5>
      <a:accent6>
        <a:srgbClr val="9AA0A6"/>
      </a:accent6>
      <a:hlink>
        <a:srgbClr val="0563C1"/>
      </a:hlink>
      <a:folHlink>
        <a:srgbClr val="954F72"/>
      </a:folHlink>
    </a:clrScheme>
    <a:fontScheme name="Badanie potrzeb – spacery AI">
      <a:majorFont>
        <a:latin typeface="Fraunce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Badanie potrzeb – spacery AI</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Fraunces
Copyright 2018 The Fraunces Project Authors (https://github.com/undercasetype/Fraunces)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2026-10-25T13:47:00Z</dcterms:created>
  <dcterms:modified xsi:type="dcterms:W3CDTF">2026-10-25T13:47:00Z</dcterms:modified>
</cp:coreProperties>
</file>